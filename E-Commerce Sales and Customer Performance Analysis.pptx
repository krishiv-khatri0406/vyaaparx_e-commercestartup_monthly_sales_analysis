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ocuments\ecommerce_sales_analytics(AutoRecovered).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[ecommerce_sales_analytics(AutoRecovered).xlsx]analysis of net sales!PivotTable3</c:name>
    <c:fmtId val="13"/>
  </c:pivotSource>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'analysis of net sales'!$B$3</c:f>
              <c:strCache>
                <c:ptCount val="1"/>
                <c:pt idx="0">
                  <c:v>Total</c:v>
                </c:pt>
              </c:strCache>
            </c:strRef>
          </c:tx>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invertIfNegative val="0"/>
          <c:cat>
            <c:multiLvlStrRef>
              <c:f>'analysis of net sales'!$A$4:$A$39</c:f>
              <c:multiLvlStrCache>
                <c:ptCount val="33"/>
                <c:lvl>
                  <c:pt idx="0">
                    <c:v>Art and collections</c:v>
                  </c:pt>
                  <c:pt idx="1">
                    <c:v>Beverages</c:v>
                  </c:pt>
                  <c:pt idx="2">
                    <c:v>Books &amp; Stationeries</c:v>
                  </c:pt>
                  <c:pt idx="3">
                    <c:v>Confectionaries</c:v>
                  </c:pt>
                  <c:pt idx="4">
                    <c:v>Cosmetics</c:v>
                  </c:pt>
                  <c:pt idx="5">
                    <c:v>Drinkware</c:v>
                  </c:pt>
                  <c:pt idx="6">
                    <c:v>Electronics</c:v>
                  </c:pt>
                  <c:pt idx="7">
                    <c:v>Food and Beverages</c:v>
                  </c:pt>
                  <c:pt idx="8">
                    <c:v>Furniture</c:v>
                  </c:pt>
                  <c:pt idx="9">
                    <c:v>Hardware</c:v>
                  </c:pt>
                  <c:pt idx="10">
                    <c:v>Health &amp; Beauty</c:v>
                  </c:pt>
                  <c:pt idx="11">
                    <c:v>Home &amp; décor</c:v>
                  </c:pt>
                  <c:pt idx="12">
                    <c:v>Home and kitchen</c:v>
                  </c:pt>
                  <c:pt idx="13">
                    <c:v>Home and Lifestyle </c:v>
                  </c:pt>
                  <c:pt idx="14">
                    <c:v>Jewelry</c:v>
                  </c:pt>
                  <c:pt idx="15">
                    <c:v>Pet Supplies</c:v>
                  </c:pt>
                  <c:pt idx="16">
                    <c:v>Sports &amp; Fitness</c:v>
                  </c:pt>
                  <c:pt idx="17">
                    <c:v>Toys</c:v>
                  </c:pt>
                  <c:pt idx="18">
                    <c:v>Apparel</c:v>
                  </c:pt>
                  <c:pt idx="19">
                    <c:v>Art and collections</c:v>
                  </c:pt>
                  <c:pt idx="20">
                    <c:v>Automotive</c:v>
                  </c:pt>
                  <c:pt idx="21">
                    <c:v>Beverages</c:v>
                  </c:pt>
                  <c:pt idx="22">
                    <c:v>Books &amp; Stationeries</c:v>
                  </c:pt>
                  <c:pt idx="23">
                    <c:v>Cosmetics</c:v>
                  </c:pt>
                  <c:pt idx="24">
                    <c:v>Dry Fruits</c:v>
                  </c:pt>
                  <c:pt idx="25">
                    <c:v>Electronics</c:v>
                  </c:pt>
                  <c:pt idx="26">
                    <c:v>Fashion &amp; Acessories</c:v>
                  </c:pt>
                  <c:pt idx="27">
                    <c:v>Food and Beverages</c:v>
                  </c:pt>
                  <c:pt idx="28">
                    <c:v>Furniture</c:v>
                  </c:pt>
                  <c:pt idx="29">
                    <c:v>Hardware</c:v>
                  </c:pt>
                  <c:pt idx="30">
                    <c:v>Home &amp; décor</c:v>
                  </c:pt>
                  <c:pt idx="31">
                    <c:v>Home and kitchen</c:v>
                  </c:pt>
                  <c:pt idx="32">
                    <c:v>Sports &amp; Fitness</c:v>
                  </c:pt>
                </c:lvl>
                <c:lvl>
                  <c:pt idx="0">
                    <c:v>Delivered</c:v>
                  </c:pt>
                  <c:pt idx="18">
                    <c:v>Pending</c:v>
                  </c:pt>
                </c:lvl>
              </c:multiLvlStrCache>
            </c:multiLvlStrRef>
          </c:cat>
          <c:val>
            <c:numRef>
              <c:f>'analysis of net sales'!$B$4:$B$39</c:f>
              <c:numCache>
                <c:formatCode>_ [$₹-4009]\ * #,##0.00_ ;_ [$₹-4009]\ * \-#,##0.00_ ;_ [$₹-4009]\ * "-"??_ ;_ @_ </c:formatCode>
                <c:ptCount val="33"/>
                <c:pt idx="0">
                  <c:v>11340</c:v>
                </c:pt>
                <c:pt idx="1">
                  <c:v>85167.5</c:v>
                </c:pt>
                <c:pt idx="2">
                  <c:v>34778.1</c:v>
                </c:pt>
                <c:pt idx="3">
                  <c:v>4500</c:v>
                </c:pt>
                <c:pt idx="4">
                  <c:v>2250</c:v>
                </c:pt>
                <c:pt idx="5">
                  <c:v>48608</c:v>
                </c:pt>
                <c:pt idx="6">
                  <c:v>2261167.5</c:v>
                </c:pt>
                <c:pt idx="7">
                  <c:v>5110</c:v>
                </c:pt>
                <c:pt idx="8">
                  <c:v>51750</c:v>
                </c:pt>
                <c:pt idx="9">
                  <c:v>60074</c:v>
                </c:pt>
                <c:pt idx="10">
                  <c:v>6615</c:v>
                </c:pt>
                <c:pt idx="11">
                  <c:v>1340175</c:v>
                </c:pt>
                <c:pt idx="12">
                  <c:v>243170</c:v>
                </c:pt>
                <c:pt idx="13">
                  <c:v>4200</c:v>
                </c:pt>
                <c:pt idx="14">
                  <c:v>200000</c:v>
                </c:pt>
                <c:pt idx="15">
                  <c:v>48000</c:v>
                </c:pt>
                <c:pt idx="16">
                  <c:v>36400</c:v>
                </c:pt>
                <c:pt idx="17">
                  <c:v>65880</c:v>
                </c:pt>
                <c:pt idx="18">
                  <c:v>27720</c:v>
                </c:pt>
                <c:pt idx="19">
                  <c:v>4745317</c:v>
                </c:pt>
                <c:pt idx="20">
                  <c:v>465400</c:v>
                </c:pt>
                <c:pt idx="21">
                  <c:v>104980</c:v>
                </c:pt>
                <c:pt idx="22">
                  <c:v>45565</c:v>
                </c:pt>
                <c:pt idx="23">
                  <c:v>34500</c:v>
                </c:pt>
                <c:pt idx="24">
                  <c:v>17310</c:v>
                </c:pt>
                <c:pt idx="25">
                  <c:v>7559641.7000000002</c:v>
                </c:pt>
                <c:pt idx="26">
                  <c:v>601625</c:v>
                </c:pt>
                <c:pt idx="27">
                  <c:v>94770</c:v>
                </c:pt>
                <c:pt idx="28">
                  <c:v>137800</c:v>
                </c:pt>
                <c:pt idx="29">
                  <c:v>102210</c:v>
                </c:pt>
                <c:pt idx="30">
                  <c:v>2213205</c:v>
                </c:pt>
                <c:pt idx="31">
                  <c:v>98140</c:v>
                </c:pt>
                <c:pt idx="32">
                  <c:v>575900</c:v>
                </c:pt>
              </c:numCache>
            </c:numRef>
          </c:val>
          <c:extLst>
            <c:ext xmlns:c16="http://schemas.microsoft.com/office/drawing/2014/chart" uri="{C3380CC4-5D6E-409C-BE32-E72D297353CC}">
              <c16:uniqueId val="{00000000-CED5-4B21-8044-FED81D84BD96}"/>
            </c:ext>
          </c:extLst>
        </c:ser>
        <c:dLbls>
          <c:showLegendKey val="0"/>
          <c:showVal val="0"/>
          <c:showCatName val="0"/>
          <c:showSerName val="0"/>
          <c:showPercent val="0"/>
          <c:showBubbleSize val="0"/>
        </c:dLbls>
        <c:gapWidth val="65"/>
        <c:shape val="box"/>
        <c:axId val="1105126832"/>
        <c:axId val="606696256"/>
        <c:axId val="0"/>
      </c:bar3DChart>
      <c:catAx>
        <c:axId val="1105126832"/>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606696256"/>
        <c:crosses val="autoZero"/>
        <c:auto val="1"/>
        <c:lblAlgn val="ctr"/>
        <c:lblOffset val="100"/>
        <c:noMultiLvlLbl val="0"/>
      </c:catAx>
      <c:valAx>
        <c:axId val="606696256"/>
        <c:scaling>
          <c:orientation val="minMax"/>
        </c:scaling>
        <c:delete val="0"/>
        <c:axPos val="l"/>
        <c:majorGridlines>
          <c:spPr>
            <a:ln w="9525" cap="flat" cmpd="sng" algn="ctr">
              <a:solidFill>
                <a:schemeClr val="dk1">
                  <a:lumMod val="15000"/>
                  <a:lumOff val="85000"/>
                </a:schemeClr>
              </a:solidFill>
              <a:round/>
            </a:ln>
            <a:effectLst/>
          </c:spPr>
        </c:majorGridlines>
        <c:numFmt formatCode="_ [$₹-4009]\ * #,##0.00_ ;_ [$₹-4009]\ * \-#,##0.00_ ;_ [$₹-4009]\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1105126832"/>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[ecommerce_sales_analytics(AutoRecovered).xlsx]Share of each type of Product!PivotTable3</c:name>
    <c:fmtId val="42"/>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'Share of each type of Product'!$B$209</c:f>
              <c:strCache>
                <c:ptCount val="1"/>
                <c:pt idx="0">
                  <c:v>Total</c:v>
                </c:pt>
              </c:strCache>
            </c:strRef>
          </c:tx>
          <c:spPr>
            <a:solidFill>
              <a:schemeClr val="accent5"/>
            </a:solidFill>
            <a:ln>
              <a:noFill/>
            </a:ln>
            <a:effectLst/>
          </c:spPr>
          <c:invertIfNegative val="0"/>
          <c:cat>
            <c:strRef>
              <c:f>'Share of each type of Product'!$A$210:$A$233</c:f>
              <c:strCache>
                <c:ptCount val="23"/>
                <c:pt idx="0">
                  <c:v>Apparel</c:v>
                </c:pt>
                <c:pt idx="1">
                  <c:v>Art and collections</c:v>
                </c:pt>
                <c:pt idx="2">
                  <c:v>Automotive</c:v>
                </c:pt>
                <c:pt idx="3">
                  <c:v>Beverages</c:v>
                </c:pt>
                <c:pt idx="4">
                  <c:v>Books &amp; Stationeries</c:v>
                </c:pt>
                <c:pt idx="5">
                  <c:v>Confectionaries</c:v>
                </c:pt>
                <c:pt idx="6">
                  <c:v>Cosmetics</c:v>
                </c:pt>
                <c:pt idx="7">
                  <c:v>Drinkware</c:v>
                </c:pt>
                <c:pt idx="8">
                  <c:v>Dry Fruits</c:v>
                </c:pt>
                <c:pt idx="9">
                  <c:v>Electronics</c:v>
                </c:pt>
                <c:pt idx="10">
                  <c:v>Fashion &amp; Acessories</c:v>
                </c:pt>
                <c:pt idx="11">
                  <c:v>Food and Beverages</c:v>
                </c:pt>
                <c:pt idx="12">
                  <c:v>Furniture</c:v>
                </c:pt>
                <c:pt idx="13">
                  <c:v>Hardware</c:v>
                </c:pt>
                <c:pt idx="14">
                  <c:v>Health &amp; Beauty</c:v>
                </c:pt>
                <c:pt idx="15">
                  <c:v>Home &amp; décor</c:v>
                </c:pt>
                <c:pt idx="16">
                  <c:v>Home and kitchen</c:v>
                </c:pt>
                <c:pt idx="17">
                  <c:v>Home and Lifestyle </c:v>
                </c:pt>
                <c:pt idx="18">
                  <c:v>Home&amp; décor</c:v>
                </c:pt>
                <c:pt idx="19">
                  <c:v>Jewelry</c:v>
                </c:pt>
                <c:pt idx="20">
                  <c:v>Pet Supplies</c:v>
                </c:pt>
                <c:pt idx="21">
                  <c:v>Sports &amp; Fitness</c:v>
                </c:pt>
                <c:pt idx="22">
                  <c:v>Toys</c:v>
                </c:pt>
              </c:strCache>
            </c:strRef>
          </c:cat>
          <c:val>
            <c:numRef>
              <c:f>'Share of each type of Product'!$B$210:$B$233</c:f>
              <c:numCache>
                <c:formatCode>General</c:formatCode>
                <c:ptCount val="23"/>
                <c:pt idx="0">
                  <c:v>1</c:v>
                </c:pt>
                <c:pt idx="1">
                  <c:v>33</c:v>
                </c:pt>
                <c:pt idx="2">
                  <c:v>3</c:v>
                </c:pt>
                <c:pt idx="3">
                  <c:v>8</c:v>
                </c:pt>
                <c:pt idx="4">
                  <c:v>13</c:v>
                </c:pt>
                <c:pt idx="5">
                  <c:v>1</c:v>
                </c:pt>
                <c:pt idx="6">
                  <c:v>2</c:v>
                </c:pt>
                <c:pt idx="7">
                  <c:v>1</c:v>
                </c:pt>
                <c:pt idx="8">
                  <c:v>2</c:v>
                </c:pt>
                <c:pt idx="9">
                  <c:v>80</c:v>
                </c:pt>
                <c:pt idx="10">
                  <c:v>5</c:v>
                </c:pt>
                <c:pt idx="11">
                  <c:v>3</c:v>
                </c:pt>
                <c:pt idx="12">
                  <c:v>3</c:v>
                </c:pt>
                <c:pt idx="13">
                  <c:v>6</c:v>
                </c:pt>
                <c:pt idx="14">
                  <c:v>1</c:v>
                </c:pt>
                <c:pt idx="15">
                  <c:v>13</c:v>
                </c:pt>
                <c:pt idx="16">
                  <c:v>9</c:v>
                </c:pt>
                <c:pt idx="17">
                  <c:v>1</c:v>
                </c:pt>
                <c:pt idx="18">
                  <c:v>5</c:v>
                </c:pt>
                <c:pt idx="19">
                  <c:v>1</c:v>
                </c:pt>
                <c:pt idx="20">
                  <c:v>1</c:v>
                </c:pt>
                <c:pt idx="21">
                  <c:v>5</c:v>
                </c:pt>
                <c:pt idx="22">
                  <c:v>3</c:v>
                </c:pt>
              </c:numCache>
            </c:numRef>
          </c:val>
          <c:extLst>
            <c:ext xmlns:c16="http://schemas.microsoft.com/office/drawing/2014/chart" uri="{C3380CC4-5D6E-409C-BE32-E72D297353CC}">
              <c16:uniqueId val="{00000000-A114-487D-BC49-7F94452902C8}"/>
            </c:ext>
          </c:extLst>
        </c:ser>
        <c:dLbls>
          <c:showLegendKey val="0"/>
          <c:showVal val="0"/>
          <c:showCatName val="0"/>
          <c:showSerName val="0"/>
          <c:showPercent val="0"/>
          <c:showBubbleSize val="0"/>
        </c:dLbls>
        <c:gapWidth val="182"/>
        <c:axId val="1141763935"/>
        <c:axId val="809695615"/>
      </c:barChart>
      <c:catAx>
        <c:axId val="11417639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9695615"/>
        <c:crosses val="autoZero"/>
        <c:auto val="1"/>
        <c:lblAlgn val="ctr"/>
        <c:lblOffset val="100"/>
        <c:noMultiLvlLbl val="0"/>
      </c:catAx>
      <c:valAx>
        <c:axId val="80969561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17639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[ecommerce_sales_analytics(AutoRecovered).xlsx]Share of each type of Product!PivotTable5</c:name>
    <c:fmtId val="50"/>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
        <c:idx val="51"/>
        <c:spPr>
          <a:solidFill>
            <a:schemeClr val="accent1"/>
          </a:solidFill>
          <a:ln w="19050">
            <a:solidFill>
              <a:schemeClr val="lt1"/>
            </a:solidFill>
          </a:ln>
          <a:effectLst/>
        </c:spPr>
      </c:pivotFmt>
      <c:pivotFmt>
        <c:idx val="52"/>
        <c:spPr>
          <a:solidFill>
            <a:schemeClr val="accent1"/>
          </a:solidFill>
          <a:ln w="19050">
            <a:solidFill>
              <a:schemeClr val="lt1"/>
            </a:solidFill>
          </a:ln>
          <a:effectLst/>
        </c:spPr>
      </c:pivotFmt>
      <c:pivotFmt>
        <c:idx val="53"/>
        <c:spPr>
          <a:solidFill>
            <a:schemeClr val="accent1"/>
          </a:solidFill>
          <a:ln w="19050">
            <a:solidFill>
              <a:schemeClr val="lt1"/>
            </a:solidFill>
          </a:ln>
          <a:effectLst/>
        </c:spPr>
      </c:pivotFmt>
      <c:pivotFmt>
        <c:idx val="54"/>
        <c:spPr>
          <a:solidFill>
            <a:schemeClr val="accent1"/>
          </a:solidFill>
          <a:ln w="19050">
            <a:solidFill>
              <a:schemeClr val="lt1"/>
            </a:solidFill>
          </a:ln>
          <a:effectLst/>
        </c:spPr>
      </c:pivotFmt>
      <c:pivotFmt>
        <c:idx val="5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19050">
            <a:solidFill>
              <a:schemeClr val="lt1"/>
            </a:solidFill>
          </a:ln>
          <a:effectLst/>
        </c:spPr>
      </c:pivotFmt>
      <c:pivotFmt>
        <c:idx val="57"/>
        <c:spPr>
          <a:solidFill>
            <a:schemeClr val="accent1"/>
          </a:solidFill>
          <a:ln w="19050">
            <a:solidFill>
              <a:schemeClr val="lt1"/>
            </a:solidFill>
          </a:ln>
          <a:effectLst/>
        </c:spPr>
      </c:pivotFmt>
      <c:pivotFmt>
        <c:idx val="58"/>
        <c:spPr>
          <a:solidFill>
            <a:schemeClr val="accent1"/>
          </a:solidFill>
          <a:ln w="19050">
            <a:solidFill>
              <a:schemeClr val="lt1"/>
            </a:solidFill>
          </a:ln>
          <a:effectLst/>
        </c:spPr>
      </c:pivotFmt>
      <c:pivotFmt>
        <c:idx val="59"/>
        <c:spPr>
          <a:solidFill>
            <a:schemeClr val="accent1"/>
          </a:solidFill>
          <a:ln w="19050">
            <a:solidFill>
              <a:schemeClr val="lt1"/>
            </a:solidFill>
          </a:ln>
          <a:effectLst/>
        </c:spPr>
      </c:pivotFmt>
      <c:pivotFmt>
        <c:idx val="60"/>
        <c:spPr>
          <a:solidFill>
            <a:schemeClr val="accent1"/>
          </a:solidFill>
          <a:ln w="19050">
            <a:solidFill>
              <a:schemeClr val="lt1"/>
            </a:solidFill>
          </a:ln>
          <a:effectLst/>
        </c:spPr>
      </c:pivotFmt>
      <c:pivotFmt>
        <c:idx val="61"/>
        <c:spPr>
          <a:solidFill>
            <a:schemeClr val="accent1"/>
          </a:solidFill>
          <a:ln w="19050">
            <a:solidFill>
              <a:schemeClr val="lt1"/>
            </a:solidFill>
          </a:ln>
          <a:effectLst/>
        </c:spPr>
      </c:pivotFmt>
      <c:pivotFmt>
        <c:idx val="62"/>
        <c:spPr>
          <a:solidFill>
            <a:schemeClr val="accent1"/>
          </a:solidFill>
          <a:ln w="19050">
            <a:solidFill>
              <a:schemeClr val="lt1"/>
            </a:solidFill>
          </a:ln>
          <a:effectLst/>
        </c:spPr>
      </c:pivotFmt>
      <c:pivotFmt>
        <c:idx val="63"/>
        <c:spPr>
          <a:solidFill>
            <a:schemeClr val="accent1"/>
          </a:solidFill>
          <a:ln w="19050">
            <a:solidFill>
              <a:schemeClr val="lt1"/>
            </a:solidFill>
          </a:ln>
          <a:effectLst/>
        </c:spPr>
      </c:pivotFmt>
      <c:pivotFmt>
        <c:idx val="64"/>
        <c:spPr>
          <a:solidFill>
            <a:schemeClr val="accent1"/>
          </a:solidFill>
          <a:ln w="19050">
            <a:solidFill>
              <a:schemeClr val="lt1"/>
            </a:solidFill>
          </a:ln>
          <a:effectLst/>
        </c:spPr>
      </c:pivotFmt>
      <c:pivotFmt>
        <c:idx val="65"/>
        <c:spPr>
          <a:solidFill>
            <a:schemeClr val="accent1"/>
          </a:solidFill>
          <a:ln w="19050">
            <a:solidFill>
              <a:schemeClr val="lt1"/>
            </a:solidFill>
          </a:ln>
          <a:effectLst/>
        </c:spPr>
      </c:pivotFmt>
      <c:pivotFmt>
        <c:idx val="66"/>
        <c:spPr>
          <a:solidFill>
            <a:schemeClr val="accent1"/>
          </a:solidFill>
          <a:ln w="19050">
            <a:solidFill>
              <a:schemeClr val="lt1"/>
            </a:solidFill>
          </a:ln>
          <a:effectLst/>
        </c:spPr>
      </c:pivotFmt>
      <c:pivotFmt>
        <c:idx val="67"/>
        <c:spPr>
          <a:solidFill>
            <a:schemeClr val="accent1"/>
          </a:solidFill>
          <a:ln w="19050">
            <a:solidFill>
              <a:schemeClr val="lt1"/>
            </a:solidFill>
          </a:ln>
          <a:effectLst/>
        </c:spPr>
      </c:pivotFmt>
      <c:pivotFmt>
        <c:idx val="68"/>
        <c:spPr>
          <a:solidFill>
            <a:schemeClr val="accent1"/>
          </a:solidFill>
          <a:ln w="19050">
            <a:solidFill>
              <a:schemeClr val="lt1"/>
            </a:solidFill>
          </a:ln>
          <a:effectLst/>
        </c:spPr>
      </c:pivotFmt>
      <c:pivotFmt>
        <c:idx val="69"/>
        <c:spPr>
          <a:solidFill>
            <a:schemeClr val="accent1"/>
          </a:solidFill>
          <a:ln w="19050">
            <a:solidFill>
              <a:schemeClr val="lt1"/>
            </a:solidFill>
          </a:ln>
          <a:effectLst/>
        </c:spPr>
      </c:pivotFmt>
      <c:pivotFmt>
        <c:idx val="70"/>
        <c:spPr>
          <a:solidFill>
            <a:schemeClr val="accent1"/>
          </a:solidFill>
          <a:ln w="19050">
            <a:solidFill>
              <a:schemeClr val="lt1"/>
            </a:solidFill>
          </a:ln>
          <a:effectLst/>
        </c:spPr>
      </c:pivotFmt>
      <c:pivotFmt>
        <c:idx val="71"/>
        <c:spPr>
          <a:solidFill>
            <a:schemeClr val="accent1"/>
          </a:solidFill>
          <a:ln w="19050">
            <a:solidFill>
              <a:schemeClr val="lt1"/>
            </a:solidFill>
          </a:ln>
          <a:effectLst/>
        </c:spPr>
      </c:pivotFmt>
      <c:pivotFmt>
        <c:idx val="72"/>
        <c:spPr>
          <a:solidFill>
            <a:schemeClr val="accent1"/>
          </a:solidFill>
          <a:ln w="19050">
            <a:solidFill>
              <a:schemeClr val="lt1"/>
            </a:solidFill>
          </a:ln>
          <a:effectLst/>
        </c:spPr>
      </c:pivotFmt>
      <c:pivotFmt>
        <c:idx val="73"/>
        <c:spPr>
          <a:solidFill>
            <a:schemeClr val="accent1"/>
          </a:solidFill>
          <a:ln w="19050">
            <a:solidFill>
              <a:schemeClr val="lt1"/>
            </a:solidFill>
          </a:ln>
          <a:effectLst/>
        </c:spPr>
      </c:pivotFmt>
      <c:pivotFmt>
        <c:idx val="74"/>
        <c:spPr>
          <a:solidFill>
            <a:schemeClr val="accent1"/>
          </a:solidFill>
          <a:ln w="19050">
            <a:solidFill>
              <a:schemeClr val="lt1"/>
            </a:solidFill>
          </a:ln>
          <a:effectLst/>
        </c:spPr>
      </c:pivotFmt>
      <c:pivotFmt>
        <c:idx val="75"/>
        <c:spPr>
          <a:solidFill>
            <a:schemeClr val="accent1"/>
          </a:solidFill>
          <a:ln w="19050">
            <a:solidFill>
              <a:schemeClr val="lt1"/>
            </a:solidFill>
          </a:ln>
          <a:effectLst/>
        </c:spPr>
      </c:pivotFmt>
      <c:pivotFmt>
        <c:idx val="76"/>
        <c:spPr>
          <a:solidFill>
            <a:schemeClr val="accent1"/>
          </a:solidFill>
          <a:ln w="19050">
            <a:solidFill>
              <a:schemeClr val="lt1"/>
            </a:solidFill>
          </a:ln>
          <a:effectLst/>
        </c:spPr>
      </c:pivotFmt>
      <c:pivotFmt>
        <c:idx val="77"/>
        <c:spPr>
          <a:solidFill>
            <a:schemeClr val="accent1"/>
          </a:solidFill>
          <a:ln w="19050">
            <a:solidFill>
              <a:schemeClr val="lt1"/>
            </a:solidFill>
          </a:ln>
          <a:effectLst/>
        </c:spPr>
      </c:pivotFmt>
      <c:pivotFmt>
        <c:idx val="78"/>
        <c:spPr>
          <a:solidFill>
            <a:schemeClr val="accent1"/>
          </a:solidFill>
          <a:ln w="19050">
            <a:solidFill>
              <a:schemeClr val="lt1"/>
            </a:solidFill>
          </a:ln>
          <a:effectLst/>
        </c:spPr>
      </c:pivotFmt>
      <c:pivotFmt>
        <c:idx val="79"/>
        <c:spPr>
          <a:solidFill>
            <a:schemeClr val="accent1"/>
          </a:solidFill>
          <a:ln w="19050">
            <a:solidFill>
              <a:schemeClr val="lt1"/>
            </a:solidFill>
          </a:ln>
          <a:effectLst/>
        </c:spPr>
      </c:pivotFmt>
      <c:pivotFmt>
        <c:idx val="80"/>
        <c:spPr>
          <a:solidFill>
            <a:schemeClr val="accent1"/>
          </a:solidFill>
          <a:ln w="19050">
            <a:solidFill>
              <a:schemeClr val="lt1"/>
            </a:solidFill>
          </a:ln>
          <a:effectLst/>
        </c:spPr>
      </c:pivotFmt>
      <c:pivotFmt>
        <c:idx val="81"/>
        <c:spPr>
          <a:solidFill>
            <a:schemeClr val="accent1"/>
          </a:solidFill>
          <a:ln w="19050">
            <a:solidFill>
              <a:schemeClr val="lt1"/>
            </a:solidFill>
          </a:ln>
          <a:effectLst/>
        </c:spPr>
      </c:pivotFmt>
      <c:pivotFmt>
        <c:idx val="82"/>
        <c:spPr>
          <a:solidFill>
            <a:schemeClr val="accent1"/>
          </a:solidFill>
          <a:ln w="19050">
            <a:solidFill>
              <a:schemeClr val="lt1"/>
            </a:solidFill>
          </a:ln>
          <a:effectLst/>
        </c:spPr>
      </c:pivotFmt>
      <c:pivotFmt>
        <c:idx val="83"/>
        <c:spPr>
          <a:solidFill>
            <a:schemeClr val="accent1"/>
          </a:solidFill>
          <a:ln w="19050">
            <a:solidFill>
              <a:schemeClr val="lt1"/>
            </a:solidFill>
          </a:ln>
          <a:effectLst/>
        </c:spPr>
      </c:pivotFmt>
      <c:pivotFmt>
        <c:idx val="84"/>
        <c:spPr>
          <a:solidFill>
            <a:schemeClr val="accent1"/>
          </a:solidFill>
          <a:ln w="19050">
            <a:solidFill>
              <a:schemeClr val="lt1"/>
            </a:solidFill>
          </a:ln>
          <a:effectLst/>
        </c:spPr>
      </c:pivotFmt>
      <c:pivotFmt>
        <c:idx val="85"/>
        <c:spPr>
          <a:solidFill>
            <a:schemeClr val="accent1"/>
          </a:solidFill>
          <a:ln w="19050">
            <a:solidFill>
              <a:schemeClr val="lt1"/>
            </a:solidFill>
          </a:ln>
          <a:effectLst/>
        </c:spPr>
      </c:pivotFmt>
      <c:pivotFmt>
        <c:idx val="86"/>
        <c:spPr>
          <a:solidFill>
            <a:schemeClr val="accent1"/>
          </a:solidFill>
          <a:ln w="19050">
            <a:solidFill>
              <a:schemeClr val="lt1"/>
            </a:solidFill>
          </a:ln>
          <a:effectLst/>
        </c:spPr>
      </c:pivotFmt>
      <c:pivotFmt>
        <c:idx val="87"/>
        <c:spPr>
          <a:solidFill>
            <a:schemeClr val="accent1"/>
          </a:solidFill>
          <a:ln w="19050">
            <a:solidFill>
              <a:schemeClr val="lt1"/>
            </a:solidFill>
          </a:ln>
          <a:effectLst/>
        </c:spPr>
      </c:pivotFmt>
      <c:pivotFmt>
        <c:idx val="88"/>
        <c:spPr>
          <a:solidFill>
            <a:schemeClr val="accent1"/>
          </a:solidFill>
          <a:ln w="19050">
            <a:solidFill>
              <a:schemeClr val="lt1"/>
            </a:solidFill>
          </a:ln>
          <a:effectLst/>
        </c:spPr>
      </c:pivotFmt>
      <c:pivotFmt>
        <c:idx val="89"/>
        <c:spPr>
          <a:solidFill>
            <a:schemeClr val="accent1"/>
          </a:solidFill>
          <a:ln w="19050">
            <a:solidFill>
              <a:schemeClr val="lt1"/>
            </a:solidFill>
          </a:ln>
          <a:effectLst/>
        </c:spPr>
      </c:pivotFmt>
      <c:pivotFmt>
        <c:idx val="90"/>
        <c:spPr>
          <a:solidFill>
            <a:schemeClr val="accent1"/>
          </a:solidFill>
          <a:ln w="19050">
            <a:solidFill>
              <a:schemeClr val="lt1"/>
            </a:solidFill>
          </a:ln>
          <a:effectLst/>
        </c:spPr>
      </c:pivotFmt>
      <c:pivotFmt>
        <c:idx val="91"/>
        <c:spPr>
          <a:solidFill>
            <a:schemeClr val="accent1"/>
          </a:solidFill>
          <a:ln w="19050">
            <a:solidFill>
              <a:schemeClr val="lt1"/>
            </a:solidFill>
          </a:ln>
          <a:effectLst/>
        </c:spPr>
      </c:pivotFmt>
      <c:pivotFmt>
        <c:idx val="92"/>
        <c:spPr>
          <a:solidFill>
            <a:schemeClr val="accent1"/>
          </a:solidFill>
          <a:ln w="19050">
            <a:solidFill>
              <a:schemeClr val="lt1"/>
            </a:solidFill>
          </a:ln>
          <a:effectLst/>
        </c:spPr>
      </c:pivotFmt>
      <c:pivotFmt>
        <c:idx val="93"/>
        <c:spPr>
          <a:solidFill>
            <a:schemeClr val="accent1"/>
          </a:solidFill>
          <a:ln w="19050">
            <a:solidFill>
              <a:schemeClr val="lt1"/>
            </a:solidFill>
          </a:ln>
          <a:effectLst/>
        </c:spPr>
      </c:pivotFmt>
      <c:pivotFmt>
        <c:idx val="94"/>
        <c:spPr>
          <a:solidFill>
            <a:schemeClr val="accent1"/>
          </a:solidFill>
          <a:ln w="19050">
            <a:solidFill>
              <a:schemeClr val="lt1"/>
            </a:solidFill>
          </a:ln>
          <a:effectLst/>
        </c:spPr>
      </c:pivotFmt>
      <c:pivotFmt>
        <c:idx val="95"/>
        <c:spPr>
          <a:solidFill>
            <a:schemeClr val="accent1"/>
          </a:solidFill>
          <a:ln w="19050">
            <a:solidFill>
              <a:schemeClr val="lt1"/>
            </a:solidFill>
          </a:ln>
          <a:effectLst/>
        </c:spPr>
      </c:pivotFmt>
      <c:pivotFmt>
        <c:idx val="96"/>
        <c:spPr>
          <a:solidFill>
            <a:schemeClr val="accent1"/>
          </a:solidFill>
          <a:ln w="19050">
            <a:solidFill>
              <a:schemeClr val="lt1"/>
            </a:solidFill>
          </a:ln>
          <a:effectLst/>
        </c:spPr>
      </c:pivotFmt>
      <c:pivotFmt>
        <c:idx val="97"/>
        <c:spPr>
          <a:solidFill>
            <a:schemeClr val="accent1"/>
          </a:solidFill>
          <a:ln w="19050">
            <a:solidFill>
              <a:schemeClr val="lt1"/>
            </a:solidFill>
          </a:ln>
          <a:effectLst/>
        </c:spPr>
      </c:pivotFmt>
      <c:pivotFmt>
        <c:idx val="98"/>
        <c:spPr>
          <a:solidFill>
            <a:schemeClr val="accent1"/>
          </a:solidFill>
          <a:ln w="19050">
            <a:solidFill>
              <a:schemeClr val="lt1"/>
            </a:solidFill>
          </a:ln>
          <a:effectLst/>
        </c:spPr>
      </c:pivotFmt>
      <c:pivotFmt>
        <c:idx val="99"/>
        <c:spPr>
          <a:solidFill>
            <a:schemeClr val="accent1"/>
          </a:solidFill>
          <a:ln w="19050">
            <a:solidFill>
              <a:schemeClr val="lt1"/>
            </a:solidFill>
          </a:ln>
          <a:effectLst/>
        </c:spPr>
      </c:pivotFmt>
      <c:pivotFmt>
        <c:idx val="100"/>
        <c:spPr>
          <a:solidFill>
            <a:schemeClr val="accent1"/>
          </a:solidFill>
          <a:ln w="19050">
            <a:solidFill>
              <a:schemeClr val="lt1"/>
            </a:solidFill>
          </a:ln>
          <a:effectLst/>
        </c:spPr>
      </c:pivotFmt>
      <c:pivotFmt>
        <c:idx val="101"/>
        <c:spPr>
          <a:solidFill>
            <a:schemeClr val="accent1"/>
          </a:solidFill>
          <a:ln w="19050">
            <a:solidFill>
              <a:schemeClr val="lt1"/>
            </a:solidFill>
          </a:ln>
          <a:effectLst/>
        </c:spPr>
      </c:pivotFmt>
      <c:pivotFmt>
        <c:idx val="102"/>
        <c:spPr>
          <a:solidFill>
            <a:schemeClr val="accent1"/>
          </a:solidFill>
          <a:ln w="19050">
            <a:solidFill>
              <a:schemeClr val="lt1"/>
            </a:solidFill>
          </a:ln>
          <a:effectLst/>
        </c:spPr>
      </c:pivotFmt>
      <c:pivotFmt>
        <c:idx val="103"/>
        <c:spPr>
          <a:solidFill>
            <a:schemeClr val="accent1"/>
          </a:solidFill>
          <a:ln w="19050">
            <a:solidFill>
              <a:schemeClr val="lt1"/>
            </a:solidFill>
          </a:ln>
          <a:effectLst/>
        </c:spPr>
      </c:pivotFmt>
      <c:pivotFmt>
        <c:idx val="104"/>
        <c:spPr>
          <a:solidFill>
            <a:schemeClr val="accent1"/>
          </a:solidFill>
          <a:ln w="19050">
            <a:solidFill>
              <a:schemeClr val="lt1"/>
            </a:solidFill>
          </a:ln>
          <a:effectLst/>
        </c:spPr>
      </c:pivotFmt>
      <c:pivotFmt>
        <c:idx val="105"/>
        <c:spPr>
          <a:solidFill>
            <a:schemeClr val="accent1"/>
          </a:solidFill>
          <a:ln w="19050">
            <a:solidFill>
              <a:schemeClr val="lt1"/>
            </a:solidFill>
          </a:ln>
          <a:effectLst/>
        </c:spPr>
      </c:pivotFmt>
      <c:pivotFmt>
        <c:idx val="106"/>
        <c:spPr>
          <a:solidFill>
            <a:schemeClr val="accent1"/>
          </a:solidFill>
          <a:ln w="19050">
            <a:solidFill>
              <a:schemeClr val="lt1"/>
            </a:solidFill>
          </a:ln>
          <a:effectLst/>
        </c:spPr>
      </c:pivotFmt>
      <c:pivotFmt>
        <c:idx val="107"/>
        <c:spPr>
          <a:solidFill>
            <a:schemeClr val="accent1"/>
          </a:solidFill>
          <a:ln w="19050">
            <a:solidFill>
              <a:schemeClr val="lt1"/>
            </a:solidFill>
          </a:ln>
          <a:effectLst/>
        </c:spPr>
      </c:pivotFmt>
      <c:pivotFmt>
        <c:idx val="108"/>
        <c:spPr>
          <a:solidFill>
            <a:schemeClr val="accent1"/>
          </a:solidFill>
          <a:ln w="19050">
            <a:solidFill>
              <a:schemeClr val="lt1"/>
            </a:solidFill>
          </a:ln>
          <a:effectLst/>
        </c:spPr>
      </c:pivotFmt>
    </c:pivotFmts>
    <c:plotArea>
      <c:layout/>
      <c:doughnutChart>
        <c:varyColors val="1"/>
        <c:ser>
          <c:idx val="0"/>
          <c:order val="0"/>
          <c:tx>
            <c:strRef>
              <c:f>'Share of each type of Product'!$B$246</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290-4705-9D28-E630F65A3AF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290-4705-9D28-E630F65A3AF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290-4705-9D28-E630F65A3AF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290-4705-9D28-E630F65A3AF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E290-4705-9D28-E630F65A3AFB}"/>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E290-4705-9D28-E630F65A3AFB}"/>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E290-4705-9D28-E630F65A3AFB}"/>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E290-4705-9D28-E630F65A3AFB}"/>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E290-4705-9D28-E630F65A3AFB}"/>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E290-4705-9D28-E630F65A3AFB}"/>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E290-4705-9D28-E630F65A3AFB}"/>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E290-4705-9D28-E630F65A3AFB}"/>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E290-4705-9D28-E630F65A3AFB}"/>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E290-4705-9D28-E630F65A3AFB}"/>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E290-4705-9D28-E630F65A3AFB}"/>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E290-4705-9D28-E630F65A3AFB}"/>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E290-4705-9D28-E630F65A3AFB}"/>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E290-4705-9D28-E630F65A3AFB}"/>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E290-4705-9D28-E630F65A3AFB}"/>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E290-4705-9D28-E630F65A3AFB}"/>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E290-4705-9D28-E630F65A3AFB}"/>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E290-4705-9D28-E630F65A3AFB}"/>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E290-4705-9D28-E630F65A3AFB}"/>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E290-4705-9D28-E630F65A3AFB}"/>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31-E290-4705-9D28-E630F65A3AFB}"/>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33-E290-4705-9D28-E630F65A3AFB}"/>
              </c:ext>
            </c:extLst>
          </c:dPt>
          <c:dPt>
            <c:idx val="26"/>
            <c:bubble3D val="0"/>
            <c:spPr>
              <a:solidFill>
                <a:schemeClr val="accent3">
                  <a:lumMod val="60000"/>
                  <a:lumOff val="40000"/>
                </a:schemeClr>
              </a:solidFill>
              <a:ln w="19050">
                <a:solidFill>
                  <a:schemeClr val="lt1"/>
                </a:solidFill>
              </a:ln>
              <a:effectLst/>
            </c:spPr>
            <c:extLst>
              <c:ext xmlns:c16="http://schemas.microsoft.com/office/drawing/2014/chart" uri="{C3380CC4-5D6E-409C-BE32-E72D297353CC}">
                <c16:uniqueId val="{00000035-E290-4705-9D28-E630F65A3AFB}"/>
              </c:ext>
            </c:extLst>
          </c:dPt>
          <c:dPt>
            <c:idx val="27"/>
            <c:bubble3D val="0"/>
            <c:spPr>
              <a:solidFill>
                <a:schemeClr val="accent4">
                  <a:lumMod val="60000"/>
                  <a:lumOff val="40000"/>
                </a:schemeClr>
              </a:solidFill>
              <a:ln w="19050">
                <a:solidFill>
                  <a:schemeClr val="lt1"/>
                </a:solidFill>
              </a:ln>
              <a:effectLst/>
            </c:spPr>
            <c:extLst>
              <c:ext xmlns:c16="http://schemas.microsoft.com/office/drawing/2014/chart" uri="{C3380CC4-5D6E-409C-BE32-E72D297353CC}">
                <c16:uniqueId val="{00000037-E290-4705-9D28-E630F65A3AFB}"/>
              </c:ext>
            </c:extLst>
          </c:dPt>
          <c:dPt>
            <c:idx val="28"/>
            <c:bubble3D val="0"/>
            <c:spPr>
              <a:solidFill>
                <a:schemeClr val="accent5">
                  <a:lumMod val="60000"/>
                  <a:lumOff val="40000"/>
                </a:schemeClr>
              </a:solidFill>
              <a:ln w="19050">
                <a:solidFill>
                  <a:schemeClr val="lt1"/>
                </a:solidFill>
              </a:ln>
              <a:effectLst/>
            </c:spPr>
            <c:extLst>
              <c:ext xmlns:c16="http://schemas.microsoft.com/office/drawing/2014/chart" uri="{C3380CC4-5D6E-409C-BE32-E72D297353CC}">
                <c16:uniqueId val="{00000039-E290-4705-9D28-E630F65A3AFB}"/>
              </c:ext>
            </c:extLst>
          </c:dPt>
          <c:dPt>
            <c:idx val="29"/>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3B-E290-4705-9D28-E630F65A3AFB}"/>
              </c:ext>
            </c:extLst>
          </c:dPt>
          <c:dPt>
            <c:idx val="3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3D-E290-4705-9D28-E630F65A3AFB}"/>
              </c:ext>
            </c:extLst>
          </c:dPt>
          <c:dPt>
            <c:idx val="31"/>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3F-E290-4705-9D28-E630F65A3AFB}"/>
              </c:ext>
            </c:extLst>
          </c:dPt>
          <c:dPt>
            <c:idx val="32"/>
            <c:bubble3D val="0"/>
            <c:spPr>
              <a:solidFill>
                <a:schemeClr val="accent3">
                  <a:lumMod val="50000"/>
                </a:schemeClr>
              </a:solidFill>
              <a:ln w="19050">
                <a:solidFill>
                  <a:schemeClr val="lt1"/>
                </a:solidFill>
              </a:ln>
              <a:effectLst/>
            </c:spPr>
            <c:extLst>
              <c:ext xmlns:c16="http://schemas.microsoft.com/office/drawing/2014/chart" uri="{C3380CC4-5D6E-409C-BE32-E72D297353CC}">
                <c16:uniqueId val="{00000041-E290-4705-9D28-E630F65A3AFB}"/>
              </c:ext>
            </c:extLst>
          </c:dPt>
          <c:dPt>
            <c:idx val="33"/>
            <c:bubble3D val="0"/>
            <c:spPr>
              <a:solidFill>
                <a:schemeClr val="accent4">
                  <a:lumMod val="50000"/>
                </a:schemeClr>
              </a:solidFill>
              <a:ln w="19050">
                <a:solidFill>
                  <a:schemeClr val="lt1"/>
                </a:solidFill>
              </a:ln>
              <a:effectLst/>
            </c:spPr>
            <c:extLst>
              <c:ext xmlns:c16="http://schemas.microsoft.com/office/drawing/2014/chart" uri="{C3380CC4-5D6E-409C-BE32-E72D297353CC}">
                <c16:uniqueId val="{00000043-E290-4705-9D28-E630F65A3AFB}"/>
              </c:ext>
            </c:extLst>
          </c:dPt>
          <c:dPt>
            <c:idx val="34"/>
            <c:bubble3D val="0"/>
            <c:spPr>
              <a:solidFill>
                <a:schemeClr val="accent5">
                  <a:lumMod val="50000"/>
                </a:schemeClr>
              </a:solidFill>
              <a:ln w="19050">
                <a:solidFill>
                  <a:schemeClr val="lt1"/>
                </a:solidFill>
              </a:ln>
              <a:effectLst/>
            </c:spPr>
            <c:extLst>
              <c:ext xmlns:c16="http://schemas.microsoft.com/office/drawing/2014/chart" uri="{C3380CC4-5D6E-409C-BE32-E72D297353CC}">
                <c16:uniqueId val="{00000045-E290-4705-9D28-E630F65A3AFB}"/>
              </c:ext>
            </c:extLst>
          </c:dPt>
          <c:dPt>
            <c:idx val="35"/>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47-E290-4705-9D28-E630F65A3AFB}"/>
              </c:ext>
            </c:extLst>
          </c:dPt>
          <c:dPt>
            <c:idx val="36"/>
            <c:bubble3D val="0"/>
            <c:spPr>
              <a:solidFill>
                <a:schemeClr val="accent1">
                  <a:lumMod val="70000"/>
                  <a:lumOff val="30000"/>
                </a:schemeClr>
              </a:solidFill>
              <a:ln w="19050">
                <a:solidFill>
                  <a:schemeClr val="lt1"/>
                </a:solidFill>
              </a:ln>
              <a:effectLst/>
            </c:spPr>
            <c:extLst>
              <c:ext xmlns:c16="http://schemas.microsoft.com/office/drawing/2014/chart" uri="{C3380CC4-5D6E-409C-BE32-E72D297353CC}">
                <c16:uniqueId val="{00000049-E290-4705-9D28-E630F65A3AFB}"/>
              </c:ext>
            </c:extLst>
          </c:dPt>
          <c:dPt>
            <c:idx val="37"/>
            <c:bubble3D val="0"/>
            <c:spPr>
              <a:solidFill>
                <a:schemeClr val="accent2">
                  <a:lumMod val="70000"/>
                  <a:lumOff val="30000"/>
                </a:schemeClr>
              </a:solidFill>
              <a:ln w="19050">
                <a:solidFill>
                  <a:schemeClr val="lt1"/>
                </a:solidFill>
              </a:ln>
              <a:effectLst/>
            </c:spPr>
            <c:extLst>
              <c:ext xmlns:c16="http://schemas.microsoft.com/office/drawing/2014/chart" uri="{C3380CC4-5D6E-409C-BE32-E72D297353CC}">
                <c16:uniqueId val="{0000004B-E290-4705-9D28-E630F65A3AFB}"/>
              </c:ext>
            </c:extLst>
          </c:dPt>
          <c:dPt>
            <c:idx val="38"/>
            <c:bubble3D val="0"/>
            <c:spPr>
              <a:solidFill>
                <a:schemeClr val="accent3">
                  <a:lumMod val="70000"/>
                  <a:lumOff val="30000"/>
                </a:schemeClr>
              </a:solidFill>
              <a:ln w="19050">
                <a:solidFill>
                  <a:schemeClr val="lt1"/>
                </a:solidFill>
              </a:ln>
              <a:effectLst/>
            </c:spPr>
            <c:extLst>
              <c:ext xmlns:c16="http://schemas.microsoft.com/office/drawing/2014/chart" uri="{C3380CC4-5D6E-409C-BE32-E72D297353CC}">
                <c16:uniqueId val="{0000004D-E290-4705-9D28-E630F65A3AFB}"/>
              </c:ext>
            </c:extLst>
          </c:dPt>
          <c:dPt>
            <c:idx val="39"/>
            <c:bubble3D val="0"/>
            <c:spPr>
              <a:solidFill>
                <a:schemeClr val="accent4">
                  <a:lumMod val="70000"/>
                  <a:lumOff val="30000"/>
                </a:schemeClr>
              </a:solidFill>
              <a:ln w="19050">
                <a:solidFill>
                  <a:schemeClr val="lt1"/>
                </a:solidFill>
              </a:ln>
              <a:effectLst/>
            </c:spPr>
            <c:extLst>
              <c:ext xmlns:c16="http://schemas.microsoft.com/office/drawing/2014/chart" uri="{C3380CC4-5D6E-409C-BE32-E72D297353CC}">
                <c16:uniqueId val="{0000004F-E290-4705-9D28-E630F65A3AFB}"/>
              </c:ext>
            </c:extLst>
          </c:dPt>
          <c:dPt>
            <c:idx val="40"/>
            <c:bubble3D val="0"/>
            <c:spPr>
              <a:solidFill>
                <a:schemeClr val="accent5">
                  <a:lumMod val="70000"/>
                  <a:lumOff val="30000"/>
                </a:schemeClr>
              </a:solidFill>
              <a:ln w="19050">
                <a:solidFill>
                  <a:schemeClr val="lt1"/>
                </a:solidFill>
              </a:ln>
              <a:effectLst/>
            </c:spPr>
            <c:extLst>
              <c:ext xmlns:c16="http://schemas.microsoft.com/office/drawing/2014/chart" uri="{C3380CC4-5D6E-409C-BE32-E72D297353CC}">
                <c16:uniqueId val="{00000051-E290-4705-9D28-E630F65A3AFB}"/>
              </c:ext>
            </c:extLst>
          </c:dPt>
          <c:dPt>
            <c:idx val="41"/>
            <c:bubble3D val="0"/>
            <c:spPr>
              <a:solidFill>
                <a:schemeClr val="accent6">
                  <a:lumMod val="70000"/>
                  <a:lumOff val="30000"/>
                </a:schemeClr>
              </a:solidFill>
              <a:ln w="19050">
                <a:solidFill>
                  <a:schemeClr val="lt1"/>
                </a:solidFill>
              </a:ln>
              <a:effectLst/>
            </c:spPr>
            <c:extLst>
              <c:ext xmlns:c16="http://schemas.microsoft.com/office/drawing/2014/chart" uri="{C3380CC4-5D6E-409C-BE32-E72D297353CC}">
                <c16:uniqueId val="{00000053-E290-4705-9D28-E630F65A3AFB}"/>
              </c:ext>
            </c:extLst>
          </c:dPt>
          <c:dPt>
            <c:idx val="42"/>
            <c:bubble3D val="0"/>
            <c:spPr>
              <a:solidFill>
                <a:schemeClr val="accent1">
                  <a:lumMod val="70000"/>
                </a:schemeClr>
              </a:solidFill>
              <a:ln w="19050">
                <a:solidFill>
                  <a:schemeClr val="lt1"/>
                </a:solidFill>
              </a:ln>
              <a:effectLst/>
            </c:spPr>
            <c:extLst>
              <c:ext xmlns:c16="http://schemas.microsoft.com/office/drawing/2014/chart" uri="{C3380CC4-5D6E-409C-BE32-E72D297353CC}">
                <c16:uniqueId val="{00000055-E290-4705-9D28-E630F65A3AFB}"/>
              </c:ext>
            </c:extLst>
          </c:dPt>
          <c:dPt>
            <c:idx val="43"/>
            <c:bubble3D val="0"/>
            <c:spPr>
              <a:solidFill>
                <a:schemeClr val="accent2">
                  <a:lumMod val="70000"/>
                </a:schemeClr>
              </a:solidFill>
              <a:ln w="19050">
                <a:solidFill>
                  <a:schemeClr val="lt1"/>
                </a:solidFill>
              </a:ln>
              <a:effectLst/>
            </c:spPr>
            <c:extLst>
              <c:ext xmlns:c16="http://schemas.microsoft.com/office/drawing/2014/chart" uri="{C3380CC4-5D6E-409C-BE32-E72D297353CC}">
                <c16:uniqueId val="{00000057-E290-4705-9D28-E630F65A3AFB}"/>
              </c:ext>
            </c:extLst>
          </c:dPt>
          <c:dPt>
            <c:idx val="44"/>
            <c:bubble3D val="0"/>
            <c:spPr>
              <a:solidFill>
                <a:schemeClr val="accent3">
                  <a:lumMod val="70000"/>
                </a:schemeClr>
              </a:solidFill>
              <a:ln w="19050">
                <a:solidFill>
                  <a:schemeClr val="lt1"/>
                </a:solidFill>
              </a:ln>
              <a:effectLst/>
            </c:spPr>
            <c:extLst>
              <c:ext xmlns:c16="http://schemas.microsoft.com/office/drawing/2014/chart" uri="{C3380CC4-5D6E-409C-BE32-E72D297353CC}">
                <c16:uniqueId val="{00000059-E290-4705-9D28-E630F65A3AFB}"/>
              </c:ext>
            </c:extLst>
          </c:dPt>
          <c:dPt>
            <c:idx val="45"/>
            <c:bubble3D val="0"/>
            <c:spPr>
              <a:solidFill>
                <a:schemeClr val="accent4">
                  <a:lumMod val="70000"/>
                </a:schemeClr>
              </a:solidFill>
              <a:ln w="19050">
                <a:solidFill>
                  <a:schemeClr val="lt1"/>
                </a:solidFill>
              </a:ln>
              <a:effectLst/>
            </c:spPr>
            <c:extLst>
              <c:ext xmlns:c16="http://schemas.microsoft.com/office/drawing/2014/chart" uri="{C3380CC4-5D6E-409C-BE32-E72D297353CC}">
                <c16:uniqueId val="{0000005B-E290-4705-9D28-E630F65A3AFB}"/>
              </c:ext>
            </c:extLst>
          </c:dPt>
          <c:dPt>
            <c:idx val="46"/>
            <c:bubble3D val="0"/>
            <c:spPr>
              <a:solidFill>
                <a:schemeClr val="accent5">
                  <a:lumMod val="70000"/>
                </a:schemeClr>
              </a:solidFill>
              <a:ln w="19050">
                <a:solidFill>
                  <a:schemeClr val="lt1"/>
                </a:solidFill>
              </a:ln>
              <a:effectLst/>
            </c:spPr>
            <c:extLst>
              <c:ext xmlns:c16="http://schemas.microsoft.com/office/drawing/2014/chart" uri="{C3380CC4-5D6E-409C-BE32-E72D297353CC}">
                <c16:uniqueId val="{0000005D-E290-4705-9D28-E630F65A3AFB}"/>
              </c:ext>
            </c:extLst>
          </c:dPt>
          <c:dPt>
            <c:idx val="47"/>
            <c:bubble3D val="0"/>
            <c:spPr>
              <a:solidFill>
                <a:schemeClr val="accent6">
                  <a:lumMod val="70000"/>
                </a:schemeClr>
              </a:solidFill>
              <a:ln w="19050">
                <a:solidFill>
                  <a:schemeClr val="lt1"/>
                </a:solidFill>
              </a:ln>
              <a:effectLst/>
            </c:spPr>
            <c:extLst>
              <c:ext xmlns:c16="http://schemas.microsoft.com/office/drawing/2014/chart" uri="{C3380CC4-5D6E-409C-BE32-E72D297353CC}">
                <c16:uniqueId val="{0000005F-E290-4705-9D28-E630F65A3AFB}"/>
              </c:ext>
            </c:extLst>
          </c:dPt>
          <c:dPt>
            <c:idx val="48"/>
            <c:bubble3D val="0"/>
            <c:spPr>
              <a:solidFill>
                <a:schemeClr val="accent1">
                  <a:lumMod val="50000"/>
                  <a:lumOff val="50000"/>
                </a:schemeClr>
              </a:solidFill>
              <a:ln w="19050">
                <a:solidFill>
                  <a:schemeClr val="lt1"/>
                </a:solidFill>
              </a:ln>
              <a:effectLst/>
            </c:spPr>
            <c:extLst>
              <c:ext xmlns:c16="http://schemas.microsoft.com/office/drawing/2014/chart" uri="{C3380CC4-5D6E-409C-BE32-E72D297353CC}">
                <c16:uniqueId val="{00000061-E290-4705-9D28-E630F65A3AFB}"/>
              </c:ext>
            </c:extLst>
          </c:dPt>
          <c:dPt>
            <c:idx val="49"/>
            <c:bubble3D val="0"/>
            <c:spPr>
              <a:solidFill>
                <a:schemeClr val="accent2">
                  <a:lumMod val="50000"/>
                  <a:lumOff val="50000"/>
                </a:schemeClr>
              </a:solidFill>
              <a:ln w="19050">
                <a:solidFill>
                  <a:schemeClr val="lt1"/>
                </a:solidFill>
              </a:ln>
              <a:effectLst/>
            </c:spPr>
            <c:extLst>
              <c:ext xmlns:c16="http://schemas.microsoft.com/office/drawing/2014/chart" uri="{C3380CC4-5D6E-409C-BE32-E72D297353CC}">
                <c16:uniqueId val="{00000063-E290-4705-9D28-E630F65A3AFB}"/>
              </c:ext>
            </c:extLst>
          </c:dPt>
          <c:dPt>
            <c:idx val="50"/>
            <c:bubble3D val="0"/>
            <c:spPr>
              <a:solidFill>
                <a:schemeClr val="accent3">
                  <a:lumMod val="50000"/>
                  <a:lumOff val="50000"/>
                </a:schemeClr>
              </a:solidFill>
              <a:ln w="19050">
                <a:solidFill>
                  <a:schemeClr val="lt1"/>
                </a:solidFill>
              </a:ln>
              <a:effectLst/>
            </c:spPr>
            <c:extLst>
              <c:ext xmlns:c16="http://schemas.microsoft.com/office/drawing/2014/chart" uri="{C3380CC4-5D6E-409C-BE32-E72D297353CC}">
                <c16:uniqueId val="{00000065-E290-4705-9D28-E630F65A3AFB}"/>
              </c:ext>
            </c:extLst>
          </c:dPt>
          <c:dPt>
            <c:idx val="51"/>
            <c:bubble3D val="0"/>
            <c:spPr>
              <a:solidFill>
                <a:schemeClr val="accent4">
                  <a:lumMod val="50000"/>
                  <a:lumOff val="50000"/>
                </a:schemeClr>
              </a:solidFill>
              <a:ln w="19050">
                <a:solidFill>
                  <a:schemeClr val="lt1"/>
                </a:solidFill>
              </a:ln>
              <a:effectLst/>
            </c:spPr>
            <c:extLst>
              <c:ext xmlns:c16="http://schemas.microsoft.com/office/drawing/2014/chart" uri="{C3380CC4-5D6E-409C-BE32-E72D297353CC}">
                <c16:uniqueId val="{00000067-E290-4705-9D28-E630F65A3AFB}"/>
              </c:ext>
            </c:extLst>
          </c:dPt>
          <c:dPt>
            <c:idx val="5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69-E290-4705-9D28-E630F65A3AFB}"/>
              </c:ext>
            </c:extLst>
          </c:dPt>
          <c:cat>
            <c:multiLvlStrRef>
              <c:f>'Share of each type of Product'!$A$247:$A$351</c:f>
              <c:multiLvlStrCache>
                <c:ptCount val="53"/>
                <c:lvl>
                  <c:pt idx="0">
                    <c:v>Tripura</c:v>
                  </c:pt>
                  <c:pt idx="1">
                    <c:v>Uttar Pradesh</c:v>
                  </c:pt>
                  <c:pt idx="2">
                    <c:v>Gujrat</c:v>
                  </c:pt>
                  <c:pt idx="3">
                    <c:v>Mizoram</c:v>
                  </c:pt>
                  <c:pt idx="4">
                    <c:v>Rajasthan</c:v>
                  </c:pt>
                  <c:pt idx="5">
                    <c:v>Uttar Pradesh</c:v>
                  </c:pt>
                  <c:pt idx="6">
                    <c:v>Andhra Pradesh</c:v>
                  </c:pt>
                  <c:pt idx="7">
                    <c:v>Punjab</c:v>
                  </c:pt>
                  <c:pt idx="8">
                    <c:v>Maharashtra</c:v>
                  </c:pt>
                  <c:pt idx="9">
                    <c:v>Uttar Pradesh</c:v>
                  </c:pt>
                  <c:pt idx="10">
                    <c:v>Haryana</c:v>
                  </c:pt>
                  <c:pt idx="11">
                    <c:v>Karnataka</c:v>
                  </c:pt>
                  <c:pt idx="12">
                    <c:v>Uttar Pradesh</c:v>
                  </c:pt>
                  <c:pt idx="13">
                    <c:v>Haryana</c:v>
                  </c:pt>
                  <c:pt idx="14">
                    <c:v>Punjab</c:v>
                  </c:pt>
                  <c:pt idx="15">
                    <c:v>Tamil Nadu</c:v>
                  </c:pt>
                  <c:pt idx="16">
                    <c:v>Tamil Nadu</c:v>
                  </c:pt>
                  <c:pt idx="17">
                    <c:v>Uttarakhand</c:v>
                  </c:pt>
                  <c:pt idx="18">
                    <c:v>Delhi</c:v>
                  </c:pt>
                  <c:pt idx="19">
                    <c:v>Himachal Pradesh</c:v>
                  </c:pt>
                  <c:pt idx="20">
                    <c:v>Haryana</c:v>
                  </c:pt>
                  <c:pt idx="21">
                    <c:v>Uttar Pradesh</c:v>
                  </c:pt>
                  <c:pt idx="22">
                    <c:v>Uttar Pradesh</c:v>
                  </c:pt>
                  <c:pt idx="23">
                    <c:v>Haryana</c:v>
                  </c:pt>
                  <c:pt idx="24">
                    <c:v>Karnataka</c:v>
                  </c:pt>
                  <c:pt idx="25">
                    <c:v>Rajasthan</c:v>
                  </c:pt>
                  <c:pt idx="26">
                    <c:v>Jammu &amp; Kashmir</c:v>
                  </c:pt>
                  <c:pt idx="27">
                    <c:v>Haryana</c:v>
                  </c:pt>
                  <c:pt idx="28">
                    <c:v>Uttar Pradesh</c:v>
                  </c:pt>
                  <c:pt idx="29">
                    <c:v>Uttar Pradesh</c:v>
                  </c:pt>
                  <c:pt idx="30">
                    <c:v>Haryana</c:v>
                  </c:pt>
                  <c:pt idx="31">
                    <c:v>Kerala</c:v>
                  </c:pt>
                  <c:pt idx="32">
                    <c:v>West Bengal</c:v>
                  </c:pt>
                  <c:pt idx="33">
                    <c:v>Maharashtra</c:v>
                  </c:pt>
                  <c:pt idx="34">
                    <c:v>Uttar Pradesh</c:v>
                  </c:pt>
                  <c:pt idx="35">
                    <c:v>Punjab</c:v>
                  </c:pt>
                  <c:pt idx="36">
                    <c:v>Uttar Pradesh</c:v>
                  </c:pt>
                  <c:pt idx="37">
                    <c:v>Maharashtra</c:v>
                  </c:pt>
                  <c:pt idx="38">
                    <c:v>Haryana</c:v>
                  </c:pt>
                  <c:pt idx="39">
                    <c:v>Maharashtra</c:v>
                  </c:pt>
                  <c:pt idx="40">
                    <c:v>Uttar Pradesh</c:v>
                  </c:pt>
                  <c:pt idx="41">
                    <c:v>Haryana</c:v>
                  </c:pt>
                  <c:pt idx="42">
                    <c:v>Bihar</c:v>
                  </c:pt>
                  <c:pt idx="43">
                    <c:v>Maharashtra</c:v>
                  </c:pt>
                  <c:pt idx="44">
                    <c:v>Haryana</c:v>
                  </c:pt>
                  <c:pt idx="45">
                    <c:v>Haryana</c:v>
                  </c:pt>
                  <c:pt idx="46">
                    <c:v>Jammu &amp; Kashmir</c:v>
                  </c:pt>
                  <c:pt idx="47">
                    <c:v>Gujrat</c:v>
                  </c:pt>
                  <c:pt idx="48">
                    <c:v>Gujrat</c:v>
                  </c:pt>
                  <c:pt idx="49">
                    <c:v>Uttar Pradesh</c:v>
                  </c:pt>
                  <c:pt idx="50">
                    <c:v>Andhra Pradesh</c:v>
                  </c:pt>
                  <c:pt idx="51">
                    <c:v>Andhra Pradesh</c:v>
                  </c:pt>
                  <c:pt idx="52">
                    <c:v>Maharashtra</c:v>
                  </c:pt>
                </c:lvl>
                <c:lvl>
                  <c:pt idx="0">
                    <c:v>Agartala</c:v>
                  </c:pt>
                  <c:pt idx="1">
                    <c:v>Agra</c:v>
                  </c:pt>
                  <c:pt idx="2">
                    <c:v>Ahmedabad</c:v>
                  </c:pt>
                  <c:pt idx="3">
                    <c:v>Aizawl</c:v>
                  </c:pt>
                  <c:pt idx="4">
                    <c:v>Ajmer</c:v>
                  </c:pt>
                  <c:pt idx="5">
                    <c:v>Aligarh </c:v>
                  </c:pt>
                  <c:pt idx="6">
                    <c:v>Amravati</c:v>
                  </c:pt>
                  <c:pt idx="7">
                    <c:v>Amritsar</c:v>
                  </c:pt>
                  <c:pt idx="8">
                    <c:v>Aurangabad</c:v>
                  </c:pt>
                  <c:pt idx="9">
                    <c:v>Ayodhya</c:v>
                  </c:pt>
                  <c:pt idx="10">
                    <c:v>Baghpat</c:v>
                  </c:pt>
                  <c:pt idx="11">
                    <c:v>Bangalore</c:v>
                  </c:pt>
                  <c:pt idx="12">
                    <c:v>Bareilly</c:v>
                  </c:pt>
                  <c:pt idx="13">
                    <c:v>Chandigarh</c:v>
                  </c:pt>
                  <c:pt idx="15">
                    <c:v>Chennai</c:v>
                  </c:pt>
                  <c:pt idx="16">
                    <c:v>Coimbatore</c:v>
                  </c:pt>
                  <c:pt idx="17">
                    <c:v>Dehradun</c:v>
                  </c:pt>
                  <c:pt idx="18">
                    <c:v>Delhi</c:v>
                  </c:pt>
                  <c:pt idx="19">
                    <c:v>Dharamshala</c:v>
                  </c:pt>
                  <c:pt idx="20">
                    <c:v>Faridabad</c:v>
                  </c:pt>
                  <c:pt idx="21">
                    <c:v>Ghaziabad</c:v>
                  </c:pt>
                  <c:pt idx="22">
                    <c:v>Gorakhpur</c:v>
                  </c:pt>
                  <c:pt idx="23">
                    <c:v>Gurugram</c:v>
                  </c:pt>
                  <c:pt idx="24">
                    <c:v>Hampi</c:v>
                  </c:pt>
                  <c:pt idx="25">
                    <c:v>Jaipur</c:v>
                  </c:pt>
                  <c:pt idx="26">
                    <c:v>Jammu</c:v>
                  </c:pt>
                  <c:pt idx="27">
                    <c:v>Jind</c:v>
                  </c:pt>
                  <c:pt idx="28">
                    <c:v>Kannauj</c:v>
                  </c:pt>
                  <c:pt idx="29">
                    <c:v>Kanpur</c:v>
                  </c:pt>
                  <c:pt idx="30">
                    <c:v>Karnal</c:v>
                  </c:pt>
                  <c:pt idx="31">
                    <c:v>Kochi</c:v>
                  </c:pt>
                  <c:pt idx="32">
                    <c:v>Kolkata</c:v>
                  </c:pt>
                  <c:pt idx="33">
                    <c:v>Lavasa</c:v>
                  </c:pt>
                  <c:pt idx="34">
                    <c:v>Lucknow</c:v>
                  </c:pt>
                  <c:pt idx="35">
                    <c:v>Ludhiana</c:v>
                  </c:pt>
                  <c:pt idx="36">
                    <c:v>Meerut</c:v>
                  </c:pt>
                  <c:pt idx="37">
                    <c:v>Mumbai</c:v>
                  </c:pt>
                  <c:pt idx="38">
                    <c:v>Nangloi</c:v>
                  </c:pt>
                  <c:pt idx="39">
                    <c:v>Nashik</c:v>
                  </c:pt>
                  <c:pt idx="40">
                    <c:v>Noida</c:v>
                  </c:pt>
                  <c:pt idx="41">
                    <c:v>Panipat</c:v>
                  </c:pt>
                  <c:pt idx="42">
                    <c:v>Patna</c:v>
                  </c:pt>
                  <c:pt idx="43">
                    <c:v>Pune</c:v>
                  </c:pt>
                  <c:pt idx="44">
                    <c:v>Rohtak</c:v>
                  </c:pt>
                  <c:pt idx="45">
                    <c:v>Sonipat</c:v>
                  </c:pt>
                  <c:pt idx="46">
                    <c:v>Srinagar</c:v>
                  </c:pt>
                  <c:pt idx="47">
                    <c:v>Surat</c:v>
                  </c:pt>
                  <c:pt idx="48">
                    <c:v>Vadodra</c:v>
                  </c:pt>
                  <c:pt idx="49">
                    <c:v>Varanasi</c:v>
                  </c:pt>
                  <c:pt idx="50">
                    <c:v>Vishakhapatnam</c:v>
                  </c:pt>
                  <c:pt idx="51">
                    <c:v>Vizag</c:v>
                  </c:pt>
                </c:lvl>
              </c:multiLvlStrCache>
            </c:multiLvlStrRef>
          </c:cat>
          <c:val>
            <c:numRef>
              <c:f>'Share of each type of Product'!$B$247:$B$351</c:f>
              <c:numCache>
                <c:formatCode>General</c:formatCode>
                <c:ptCount val="53"/>
                <c:pt idx="0">
                  <c:v>1</c:v>
                </c:pt>
                <c:pt idx="1">
                  <c:v>1</c:v>
                </c:pt>
                <c:pt idx="2">
                  <c:v>2</c:v>
                </c:pt>
                <c:pt idx="3">
                  <c:v>1</c:v>
                </c:pt>
                <c:pt idx="4">
                  <c:v>1</c:v>
                </c:pt>
                <c:pt idx="5">
                  <c:v>2</c:v>
                </c:pt>
                <c:pt idx="6">
                  <c:v>3</c:v>
                </c:pt>
                <c:pt idx="7">
                  <c:v>2</c:v>
                </c:pt>
                <c:pt idx="8">
                  <c:v>2</c:v>
                </c:pt>
                <c:pt idx="9">
                  <c:v>3</c:v>
                </c:pt>
                <c:pt idx="10">
                  <c:v>3</c:v>
                </c:pt>
                <c:pt idx="11">
                  <c:v>4</c:v>
                </c:pt>
                <c:pt idx="12">
                  <c:v>2</c:v>
                </c:pt>
                <c:pt idx="13">
                  <c:v>5</c:v>
                </c:pt>
                <c:pt idx="14">
                  <c:v>1</c:v>
                </c:pt>
                <c:pt idx="15">
                  <c:v>2</c:v>
                </c:pt>
                <c:pt idx="16">
                  <c:v>3</c:v>
                </c:pt>
                <c:pt idx="17">
                  <c:v>1</c:v>
                </c:pt>
                <c:pt idx="18">
                  <c:v>31</c:v>
                </c:pt>
                <c:pt idx="19">
                  <c:v>1</c:v>
                </c:pt>
                <c:pt idx="20">
                  <c:v>9</c:v>
                </c:pt>
                <c:pt idx="21">
                  <c:v>6</c:v>
                </c:pt>
                <c:pt idx="22">
                  <c:v>3</c:v>
                </c:pt>
                <c:pt idx="23">
                  <c:v>40</c:v>
                </c:pt>
                <c:pt idx="24">
                  <c:v>1</c:v>
                </c:pt>
                <c:pt idx="25">
                  <c:v>2</c:v>
                </c:pt>
                <c:pt idx="26">
                  <c:v>1</c:v>
                </c:pt>
                <c:pt idx="27">
                  <c:v>2</c:v>
                </c:pt>
                <c:pt idx="28">
                  <c:v>3</c:v>
                </c:pt>
                <c:pt idx="29">
                  <c:v>5</c:v>
                </c:pt>
                <c:pt idx="30">
                  <c:v>2</c:v>
                </c:pt>
                <c:pt idx="31">
                  <c:v>2</c:v>
                </c:pt>
                <c:pt idx="32">
                  <c:v>7</c:v>
                </c:pt>
                <c:pt idx="33">
                  <c:v>1</c:v>
                </c:pt>
                <c:pt idx="34">
                  <c:v>1</c:v>
                </c:pt>
                <c:pt idx="35">
                  <c:v>1</c:v>
                </c:pt>
                <c:pt idx="36">
                  <c:v>2</c:v>
                </c:pt>
                <c:pt idx="37">
                  <c:v>4</c:v>
                </c:pt>
                <c:pt idx="38">
                  <c:v>1</c:v>
                </c:pt>
                <c:pt idx="39">
                  <c:v>1</c:v>
                </c:pt>
                <c:pt idx="40">
                  <c:v>8</c:v>
                </c:pt>
                <c:pt idx="41">
                  <c:v>2</c:v>
                </c:pt>
                <c:pt idx="42">
                  <c:v>1</c:v>
                </c:pt>
                <c:pt idx="43">
                  <c:v>3</c:v>
                </c:pt>
                <c:pt idx="44">
                  <c:v>5</c:v>
                </c:pt>
                <c:pt idx="45">
                  <c:v>2</c:v>
                </c:pt>
                <c:pt idx="46">
                  <c:v>2</c:v>
                </c:pt>
                <c:pt idx="47">
                  <c:v>4</c:v>
                </c:pt>
                <c:pt idx="48">
                  <c:v>1</c:v>
                </c:pt>
                <c:pt idx="49">
                  <c:v>2</c:v>
                </c:pt>
                <c:pt idx="50">
                  <c:v>1</c:v>
                </c:pt>
                <c:pt idx="51">
                  <c:v>3</c:v>
                </c:pt>
                <c:pt idx="52">
                  <c:v>1</c:v>
                </c:pt>
              </c:numCache>
            </c:numRef>
          </c:val>
          <c:extLst>
            <c:ext xmlns:c16="http://schemas.microsoft.com/office/drawing/2014/chart" uri="{C3380CC4-5D6E-409C-BE32-E72D297353CC}">
              <c16:uniqueId val="{0000006A-E290-4705-9D28-E630F65A3AF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[ecommerce_sales_analytics(AutoRecovered).xlsx]monetary analysis !PivotTable2</c:name>
    <c:fmtId val="10"/>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Sum of Unit_Price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a:sp3d contourW="25400">
            <a:contourClr>
              <a:schemeClr val="lt1"/>
            </a:contourClr>
          </a:sp3d>
        </c:spPr>
      </c:pivotFmt>
      <c:pivotFmt>
        <c:idx val="2"/>
        <c:spPr>
          <a:solidFill>
            <a:schemeClr val="accent2"/>
          </a:solidFill>
          <a:ln w="19050">
            <a:solidFill>
              <a:schemeClr val="lt1"/>
            </a:solidFill>
          </a:ln>
          <a:effectLst/>
          <a:sp3d contourW="25400">
            <a:contourClr>
              <a:schemeClr val="lt1"/>
            </a:contourClr>
          </a:sp3d>
        </c:spPr>
      </c:pivotFmt>
      <c:pivotFmt>
        <c:idx val="3"/>
        <c:spPr>
          <a:solidFill>
            <a:schemeClr val="accent2"/>
          </a:solidFill>
          <a:ln w="19050">
            <a:solidFill>
              <a:schemeClr val="lt1"/>
            </a:solidFill>
          </a:ln>
          <a:effectLst/>
          <a:sp3d contourW="25400">
            <a:contourClr>
              <a:schemeClr val="lt1"/>
            </a:contourClr>
          </a:sp3d>
        </c:spPr>
      </c:pivotFmt>
      <c:pivotFmt>
        <c:idx val="4"/>
        <c:spPr>
          <a:solidFill>
            <a:schemeClr val="accent2"/>
          </a:solidFill>
          <a:ln w="19050">
            <a:solidFill>
              <a:schemeClr val="lt1"/>
            </a:solidFill>
          </a:ln>
          <a:effectLst/>
          <a:sp3d contourW="25400">
            <a:contourClr>
              <a:schemeClr val="lt1"/>
            </a:contourClr>
          </a:sp3d>
        </c:spPr>
      </c:pivotFmt>
      <c:pivotFmt>
        <c:idx val="5"/>
        <c:spPr>
          <a:solidFill>
            <a:schemeClr val="accent2"/>
          </a:solidFill>
          <a:ln w="19050">
            <a:solidFill>
              <a:schemeClr val="lt1"/>
            </a:solidFill>
          </a:ln>
          <a:effectLst/>
          <a:sp3d contourW="25400">
            <a:contourClr>
              <a:schemeClr val="lt1"/>
            </a:contourClr>
          </a:sp3d>
        </c:spPr>
      </c:pivotFmt>
      <c:pivotFmt>
        <c:idx val="6"/>
        <c:spPr>
          <a:solidFill>
            <a:schemeClr val="accent2"/>
          </a:solidFill>
          <a:ln w="19050">
            <a:solidFill>
              <a:schemeClr val="lt1"/>
            </a:solidFill>
          </a:ln>
          <a:effectLst/>
          <a:sp3d contourW="25400">
            <a:contourClr>
              <a:schemeClr val="lt1"/>
            </a:contourClr>
          </a:sp3d>
        </c:spPr>
      </c:pivotFmt>
      <c:pivotFmt>
        <c:idx val="7"/>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w="19050">
            <a:solidFill>
              <a:schemeClr val="lt1"/>
            </a:solidFill>
          </a:ln>
          <a:effectLst/>
          <a:sp3d contourW="25400">
            <a:contourClr>
              <a:schemeClr val="lt1"/>
            </a:contourClr>
          </a:sp3d>
        </c:spPr>
      </c:pivotFmt>
      <c:pivotFmt>
        <c:idx val="10"/>
        <c:spPr>
          <a:solidFill>
            <a:schemeClr val="accent2"/>
          </a:solidFill>
          <a:ln w="19050">
            <a:solidFill>
              <a:schemeClr val="lt1"/>
            </a:solidFill>
          </a:ln>
          <a:effectLst/>
          <a:sp3d contourW="25400">
            <a:contourClr>
              <a:schemeClr val="lt1"/>
            </a:contourClr>
          </a:sp3d>
        </c:spPr>
      </c:pivotFmt>
      <c:pivotFmt>
        <c:idx val="11"/>
        <c:spPr>
          <a:solidFill>
            <a:schemeClr val="accent2"/>
          </a:solidFill>
          <a:ln w="19050">
            <a:solidFill>
              <a:schemeClr val="lt1"/>
            </a:solidFill>
          </a:ln>
          <a:effectLst/>
          <a:sp3d contourW="25400">
            <a:contourClr>
              <a:schemeClr val="lt1"/>
            </a:contourClr>
          </a:sp3d>
        </c:spPr>
      </c:pivotFmt>
      <c:pivotFmt>
        <c:idx val="12"/>
        <c:spPr>
          <a:solidFill>
            <a:schemeClr val="accent2"/>
          </a:solidFill>
          <a:ln w="19050">
            <a:solidFill>
              <a:schemeClr val="lt1"/>
            </a:solidFill>
          </a:ln>
          <a:effectLst/>
          <a:sp3d contourW="25400">
            <a:contourClr>
              <a:schemeClr val="lt1"/>
            </a:contourClr>
          </a:sp3d>
        </c:spPr>
      </c:pivotFmt>
      <c:pivotFmt>
        <c:idx val="13"/>
        <c:spPr>
          <a:solidFill>
            <a:schemeClr val="accent2"/>
          </a:solidFill>
          <a:ln w="19050">
            <a:solidFill>
              <a:schemeClr val="lt1"/>
            </a:solidFill>
          </a:ln>
          <a:effectLst/>
          <a:sp3d contourW="25400">
            <a:contourClr>
              <a:schemeClr val="lt1"/>
            </a:contourClr>
          </a:sp3d>
        </c:spPr>
      </c:pivotFmt>
      <c:pivotFmt>
        <c:idx val="14"/>
        <c:spPr>
          <a:solidFill>
            <a:schemeClr val="accent2"/>
          </a:solidFill>
          <a:ln w="19050">
            <a:solidFill>
              <a:schemeClr val="lt1"/>
            </a:solidFill>
          </a:ln>
          <a:effectLst/>
          <a:sp3d contourW="25400">
            <a:contourClr>
              <a:schemeClr val="lt1"/>
            </a:contourClr>
          </a:sp3d>
        </c:spPr>
      </c:pivotFmt>
      <c:pivotFmt>
        <c:idx val="15"/>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2"/>
          </a:solidFill>
          <a:ln w="19050">
            <a:solidFill>
              <a:schemeClr val="lt1"/>
            </a:solidFill>
          </a:ln>
          <a:effectLst/>
          <a:sp3d contourW="25400">
            <a:contourClr>
              <a:schemeClr val="lt1"/>
            </a:contourClr>
          </a:sp3d>
        </c:spPr>
      </c:pivotFmt>
      <c:pivotFmt>
        <c:idx val="17"/>
        <c:spPr>
          <a:solidFill>
            <a:schemeClr val="accent2"/>
          </a:solidFill>
          <a:ln w="19050">
            <a:solidFill>
              <a:schemeClr val="lt1"/>
            </a:solidFill>
          </a:ln>
          <a:effectLst/>
          <a:sp3d contourW="25400">
            <a:contourClr>
              <a:schemeClr val="lt1"/>
            </a:contourClr>
          </a:sp3d>
        </c:spPr>
      </c:pivotFmt>
      <c:pivotFmt>
        <c:idx val="18"/>
        <c:spPr>
          <a:solidFill>
            <a:schemeClr val="accent2"/>
          </a:solidFill>
          <a:ln w="19050">
            <a:solidFill>
              <a:schemeClr val="lt1"/>
            </a:solidFill>
          </a:ln>
          <a:effectLst/>
          <a:sp3d contourW="25400">
            <a:contourClr>
              <a:schemeClr val="lt1"/>
            </a:contourClr>
          </a:sp3d>
        </c:spPr>
      </c:pivotFmt>
      <c:pivotFmt>
        <c:idx val="19"/>
        <c:spPr>
          <a:solidFill>
            <a:schemeClr val="accent2"/>
          </a:solidFill>
          <a:ln w="19050">
            <a:solidFill>
              <a:schemeClr val="lt1"/>
            </a:solidFill>
          </a:ln>
          <a:effectLst/>
          <a:sp3d contourW="25400">
            <a:contourClr>
              <a:schemeClr val="lt1"/>
            </a:contourClr>
          </a:sp3d>
        </c:spPr>
      </c:pivotFmt>
      <c:pivotFmt>
        <c:idx val="20"/>
        <c:spPr>
          <a:solidFill>
            <a:schemeClr val="accent2"/>
          </a:solidFill>
          <a:ln w="19050">
            <a:solidFill>
              <a:schemeClr val="lt1"/>
            </a:solidFill>
          </a:ln>
          <a:effectLst/>
          <a:sp3d contourW="25400">
            <a:contourClr>
              <a:schemeClr val="lt1"/>
            </a:contourClr>
          </a:sp3d>
        </c:spPr>
      </c:pivotFmt>
      <c:pivotFmt>
        <c:idx val="21"/>
        <c:spPr>
          <a:solidFill>
            <a:schemeClr val="accent2"/>
          </a:solidFill>
          <a:ln w="19050">
            <a:solidFill>
              <a:schemeClr val="lt1"/>
            </a:solidFill>
          </a:ln>
          <a:effectLst/>
          <a:sp3d contourW="25400">
            <a:contourClr>
              <a:schemeClr val="lt1"/>
            </a:contourClr>
          </a:sp3d>
        </c:spPr>
      </c:pivotFmt>
      <c:pivotFmt>
        <c:idx val="22"/>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2"/>
          </a:solidFill>
          <a:ln w="19050">
            <a:solidFill>
              <a:schemeClr val="lt1"/>
            </a:solidFill>
          </a:ln>
          <a:effectLst/>
          <a:sp3d contourW="25400">
            <a:contourClr>
              <a:schemeClr val="lt1"/>
            </a:contourClr>
          </a:sp3d>
        </c:spPr>
      </c:pivotFmt>
      <c:pivotFmt>
        <c:idx val="24"/>
        <c:spPr>
          <a:solidFill>
            <a:schemeClr val="accent2"/>
          </a:solidFill>
          <a:ln w="19050">
            <a:solidFill>
              <a:schemeClr val="lt1"/>
            </a:solidFill>
          </a:ln>
          <a:effectLst/>
          <a:sp3d contourW="25400">
            <a:contourClr>
              <a:schemeClr val="lt1"/>
            </a:contourClr>
          </a:sp3d>
        </c:spPr>
      </c:pivotFmt>
      <c:pivotFmt>
        <c:idx val="25"/>
        <c:spPr>
          <a:solidFill>
            <a:schemeClr val="accent2"/>
          </a:solidFill>
          <a:ln w="19050">
            <a:solidFill>
              <a:schemeClr val="lt1"/>
            </a:solidFill>
          </a:ln>
          <a:effectLst/>
          <a:sp3d contourW="25400">
            <a:contourClr>
              <a:schemeClr val="lt1"/>
            </a:contourClr>
          </a:sp3d>
        </c:spPr>
      </c:pivotFmt>
      <c:pivotFmt>
        <c:idx val="26"/>
        <c:spPr>
          <a:solidFill>
            <a:schemeClr val="accent2"/>
          </a:solidFill>
          <a:ln w="19050">
            <a:solidFill>
              <a:schemeClr val="lt1"/>
            </a:solidFill>
          </a:ln>
          <a:effectLst/>
          <a:sp3d contourW="25400">
            <a:contourClr>
              <a:schemeClr val="lt1"/>
            </a:contourClr>
          </a:sp3d>
        </c:spPr>
      </c:pivotFmt>
      <c:pivotFmt>
        <c:idx val="27"/>
        <c:spPr>
          <a:solidFill>
            <a:schemeClr val="accent2"/>
          </a:solidFill>
          <a:ln w="19050">
            <a:solidFill>
              <a:schemeClr val="lt1"/>
            </a:solidFill>
          </a:ln>
          <a:effectLst/>
          <a:sp3d contourW="25400">
            <a:contourClr>
              <a:schemeClr val="lt1"/>
            </a:contourClr>
          </a:sp3d>
        </c:spPr>
      </c:pivotFmt>
      <c:pivotFmt>
        <c:idx val="28"/>
        <c:spPr>
          <a:solidFill>
            <a:schemeClr val="accent2"/>
          </a:solidFill>
          <a:ln w="19050">
            <a:solidFill>
              <a:schemeClr val="lt1"/>
            </a:solidFill>
          </a:ln>
          <a:effectLst/>
          <a:sp3d contourW="25400">
            <a:contourClr>
              <a:schemeClr val="lt1"/>
            </a:contourClr>
          </a:sp3d>
        </c:spPr>
      </c:pivotFmt>
      <c:pivotFmt>
        <c:idx val="29"/>
        <c:spPr>
          <a:solidFill>
            <a:schemeClr val="accent2"/>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2"/>
          </a:solidFill>
          <a:ln w="19050">
            <a:solidFill>
              <a:schemeClr val="lt1"/>
            </a:solidFill>
          </a:ln>
          <a:effectLst/>
          <a:sp3d contourW="25400">
            <a:contourClr>
              <a:schemeClr val="lt1"/>
            </a:contourClr>
          </a:sp3d>
        </c:spPr>
      </c:pivotFmt>
      <c:pivotFmt>
        <c:idx val="31"/>
        <c:spPr>
          <a:solidFill>
            <a:schemeClr val="accent2"/>
          </a:solidFill>
          <a:ln w="19050">
            <a:solidFill>
              <a:schemeClr val="lt1"/>
            </a:solidFill>
          </a:ln>
          <a:effectLst/>
          <a:sp3d contourW="25400">
            <a:contourClr>
              <a:schemeClr val="lt1"/>
            </a:contourClr>
          </a:sp3d>
        </c:spPr>
      </c:pivotFmt>
      <c:pivotFmt>
        <c:idx val="32"/>
        <c:spPr>
          <a:solidFill>
            <a:schemeClr val="accent2"/>
          </a:solidFill>
          <a:ln w="19050">
            <a:solidFill>
              <a:schemeClr val="lt1"/>
            </a:solidFill>
          </a:ln>
          <a:effectLst/>
          <a:sp3d contourW="25400">
            <a:contourClr>
              <a:schemeClr val="lt1"/>
            </a:contourClr>
          </a:sp3d>
        </c:spPr>
      </c:pivotFmt>
      <c:pivotFmt>
        <c:idx val="33"/>
        <c:spPr>
          <a:solidFill>
            <a:schemeClr val="accent2"/>
          </a:solidFill>
          <a:ln w="19050">
            <a:solidFill>
              <a:schemeClr val="lt1"/>
            </a:solidFill>
          </a:ln>
          <a:effectLst/>
          <a:sp3d contourW="25400">
            <a:contourClr>
              <a:schemeClr val="lt1"/>
            </a:contourClr>
          </a:sp3d>
        </c:spPr>
      </c:pivotFmt>
      <c:pivotFmt>
        <c:idx val="34"/>
        <c:spPr>
          <a:solidFill>
            <a:schemeClr val="accent2"/>
          </a:solidFill>
          <a:ln w="19050">
            <a:solidFill>
              <a:schemeClr val="lt1"/>
            </a:solidFill>
          </a:ln>
          <a:effectLst/>
          <a:sp3d contourW="25400">
            <a:contourClr>
              <a:schemeClr val="lt1"/>
            </a:contourClr>
          </a:sp3d>
        </c:spPr>
      </c:pivotFmt>
      <c:pivotFmt>
        <c:idx val="35"/>
        <c:spPr>
          <a:solidFill>
            <a:schemeClr val="accent2"/>
          </a:solidFill>
          <a:ln w="1905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3005927384076996"/>
          <c:y val="0.21235892388451444"/>
          <c:w val="0.41147353455818025"/>
          <c:h val="0.68578922426363376"/>
        </c:manualLayout>
      </c:layout>
      <c:pie3DChart>
        <c:varyColors val="1"/>
        <c:ser>
          <c:idx val="0"/>
          <c:order val="0"/>
          <c:tx>
            <c:strRef>
              <c:f>'monetary analysis '!$B$3</c:f>
              <c:strCache>
                <c:ptCount val="1"/>
                <c:pt idx="0">
                  <c:v>Sum of Unit_Price</c:v>
                </c:pt>
              </c:strCache>
            </c:strRef>
          </c:tx>
          <c:dPt>
            <c:idx val="0"/>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1-3876-439D-90B7-983748C4E07E}"/>
              </c:ext>
            </c:extLst>
          </c:dPt>
          <c:dPt>
            <c:idx val="1"/>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3-3876-439D-90B7-983748C4E07E}"/>
              </c:ext>
            </c:extLst>
          </c:dPt>
          <c:dPt>
            <c:idx val="2"/>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5-3876-439D-90B7-983748C4E07E}"/>
              </c:ext>
            </c:extLst>
          </c:dPt>
          <c:dPt>
            <c:idx val="3"/>
            <c:bubble3D val="0"/>
            <c:spPr>
              <a:solidFill>
                <a:schemeClr val="accent2">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3876-439D-90B7-983748C4E07E}"/>
              </c:ext>
            </c:extLst>
          </c:dPt>
          <c:dPt>
            <c:idx val="4"/>
            <c:bubble3D val="0"/>
            <c:spPr>
              <a:solidFill>
                <a:schemeClr val="accent4">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9-3876-439D-90B7-983748C4E07E}"/>
              </c:ext>
            </c:extLst>
          </c:dPt>
          <c:dPt>
            <c:idx val="5"/>
            <c:bubble3D val="0"/>
            <c:spPr>
              <a:solidFill>
                <a:schemeClr val="accent6">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B-3876-439D-90B7-983748C4E07E}"/>
              </c:ext>
            </c:extLst>
          </c:dPt>
          <c:cat>
            <c:strRef>
              <c:f>'monetary analysis '!$A$4:$A$10</c:f>
              <c:strCache>
                <c:ptCount val="6"/>
                <c:pt idx="0">
                  <c:v>Buy Now Pay later</c:v>
                </c:pt>
                <c:pt idx="1">
                  <c:v>Cash on delivery</c:v>
                </c:pt>
                <c:pt idx="2">
                  <c:v>Credit Card</c:v>
                </c:pt>
                <c:pt idx="3">
                  <c:v>EMI </c:v>
                </c:pt>
                <c:pt idx="4">
                  <c:v>No Cost EMI</c:v>
                </c:pt>
                <c:pt idx="5">
                  <c:v>UPI</c:v>
                </c:pt>
              </c:strCache>
            </c:strRef>
          </c:cat>
          <c:val>
            <c:numRef>
              <c:f>'monetary analysis '!$B$4:$B$10</c:f>
              <c:numCache>
                <c:formatCode>_ [$₹-4009]\ * #,##0.00_ ;_ [$₹-4009]\ * \-#,##0.00_ ;_ [$₹-4009]\ * "-"??_ ;_ @_ </c:formatCode>
                <c:ptCount val="6"/>
                <c:pt idx="0">
                  <c:v>102025</c:v>
                </c:pt>
                <c:pt idx="1">
                  <c:v>74539</c:v>
                </c:pt>
                <c:pt idx="2">
                  <c:v>1382351</c:v>
                </c:pt>
                <c:pt idx="3">
                  <c:v>3720244</c:v>
                </c:pt>
                <c:pt idx="4">
                  <c:v>169000</c:v>
                </c:pt>
                <c:pt idx="5">
                  <c:v>27073</c:v>
                </c:pt>
              </c:numCache>
            </c:numRef>
          </c:val>
          <c:extLst>
            <c:ext xmlns:c16="http://schemas.microsoft.com/office/drawing/2014/chart" uri="{C3380CC4-5D6E-409C-BE32-E72D297353CC}">
              <c16:uniqueId val="{0000000C-3876-439D-90B7-983748C4E07E}"/>
            </c:ext>
          </c:extLst>
        </c:ser>
        <c:ser>
          <c:idx val="1"/>
          <c:order val="1"/>
          <c:tx>
            <c:strRef>
              <c:f>'monetary analysis '!$C$3</c:f>
              <c:strCache>
                <c:ptCount val="1"/>
                <c:pt idx="0">
                  <c:v>Count of Quantity</c:v>
                </c:pt>
              </c:strCache>
            </c:strRef>
          </c:tx>
          <c:dPt>
            <c:idx val="0"/>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E-3876-439D-90B7-983748C4E07E}"/>
              </c:ext>
            </c:extLst>
          </c:dPt>
          <c:dPt>
            <c:idx val="1"/>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10-3876-439D-90B7-983748C4E07E}"/>
              </c:ext>
            </c:extLst>
          </c:dPt>
          <c:dPt>
            <c:idx val="2"/>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12-3876-439D-90B7-983748C4E07E}"/>
              </c:ext>
            </c:extLst>
          </c:dPt>
          <c:dPt>
            <c:idx val="3"/>
            <c:bubble3D val="0"/>
            <c:spPr>
              <a:solidFill>
                <a:schemeClr val="accent2">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4-3876-439D-90B7-983748C4E07E}"/>
              </c:ext>
            </c:extLst>
          </c:dPt>
          <c:dPt>
            <c:idx val="4"/>
            <c:bubble3D val="0"/>
            <c:spPr>
              <a:solidFill>
                <a:schemeClr val="accent4">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6-3876-439D-90B7-983748C4E07E}"/>
              </c:ext>
            </c:extLst>
          </c:dPt>
          <c:dPt>
            <c:idx val="5"/>
            <c:bubble3D val="0"/>
            <c:spPr>
              <a:solidFill>
                <a:schemeClr val="accent6">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8-3876-439D-90B7-983748C4E07E}"/>
              </c:ext>
            </c:extLst>
          </c:dPt>
          <c:cat>
            <c:strRef>
              <c:f>'monetary analysis '!$A$4:$A$10</c:f>
              <c:strCache>
                <c:ptCount val="6"/>
                <c:pt idx="0">
                  <c:v>Buy Now Pay later</c:v>
                </c:pt>
                <c:pt idx="1">
                  <c:v>Cash on delivery</c:v>
                </c:pt>
                <c:pt idx="2">
                  <c:v>Credit Card</c:v>
                </c:pt>
                <c:pt idx="3">
                  <c:v>EMI </c:v>
                </c:pt>
                <c:pt idx="4">
                  <c:v>No Cost EMI</c:v>
                </c:pt>
                <c:pt idx="5">
                  <c:v>UPI</c:v>
                </c:pt>
              </c:strCache>
            </c:strRef>
          </c:cat>
          <c:val>
            <c:numRef>
              <c:f>'monetary analysis '!$C$4:$C$10</c:f>
              <c:numCache>
                <c:formatCode>General</c:formatCode>
                <c:ptCount val="6"/>
                <c:pt idx="0">
                  <c:v>8</c:v>
                </c:pt>
                <c:pt idx="1">
                  <c:v>27</c:v>
                </c:pt>
                <c:pt idx="2">
                  <c:v>67</c:v>
                </c:pt>
                <c:pt idx="3">
                  <c:v>74</c:v>
                </c:pt>
                <c:pt idx="4">
                  <c:v>7</c:v>
                </c:pt>
                <c:pt idx="5">
                  <c:v>17</c:v>
                </c:pt>
              </c:numCache>
            </c:numRef>
          </c:val>
          <c:extLst>
            <c:ext xmlns:c16="http://schemas.microsoft.com/office/drawing/2014/chart" uri="{C3380CC4-5D6E-409C-BE32-E72D297353CC}">
              <c16:uniqueId val="{00000019-3876-439D-90B7-983748C4E07E}"/>
            </c:ext>
          </c:extLst>
        </c:ser>
        <c:dLbls>
          <c:showLegendKey val="0"/>
          <c:showVal val="0"/>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[ecommerce_sales_analytics(AutoRecovered).xlsx]Share of each type of Product!PivotTable2</c:name>
    <c:fmtId val="15"/>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'Share of each type of Product'!$B$33</c:f>
              <c:strCache>
                <c:ptCount val="1"/>
                <c:pt idx="0">
                  <c:v>Sum of Net Sales</c:v>
                </c:pt>
              </c:strCache>
            </c:strRef>
          </c:tx>
          <c:spPr>
            <a:solidFill>
              <a:schemeClr val="accent1"/>
            </a:solidFill>
            <a:ln>
              <a:noFill/>
            </a:ln>
            <a:effectLst/>
          </c:spPr>
          <c:cat>
            <c:strRef>
              <c:f>'Share of each type of Product'!$A$34:$A$56</c:f>
              <c:strCache>
                <c:ptCount val="22"/>
                <c:pt idx="0">
                  <c:v>Apparel</c:v>
                </c:pt>
                <c:pt idx="1">
                  <c:v>Art and collections</c:v>
                </c:pt>
                <c:pt idx="2">
                  <c:v>Automotive</c:v>
                </c:pt>
                <c:pt idx="3">
                  <c:v>Beverages</c:v>
                </c:pt>
                <c:pt idx="4">
                  <c:v>Books &amp; Stationeries</c:v>
                </c:pt>
                <c:pt idx="5">
                  <c:v>Confectionaries</c:v>
                </c:pt>
                <c:pt idx="6">
                  <c:v>Cosmetics</c:v>
                </c:pt>
                <c:pt idx="7">
                  <c:v>Drinkware</c:v>
                </c:pt>
                <c:pt idx="8">
                  <c:v>Dry Fruits</c:v>
                </c:pt>
                <c:pt idx="9">
                  <c:v>Electronics</c:v>
                </c:pt>
                <c:pt idx="10">
                  <c:v>Fashion &amp; Acessories</c:v>
                </c:pt>
                <c:pt idx="11">
                  <c:v>Food and Beverages</c:v>
                </c:pt>
                <c:pt idx="12">
                  <c:v>Furniture</c:v>
                </c:pt>
                <c:pt idx="13">
                  <c:v>Hardware</c:v>
                </c:pt>
                <c:pt idx="14">
                  <c:v>Health &amp; Beauty</c:v>
                </c:pt>
                <c:pt idx="15">
                  <c:v>Home &amp; décor</c:v>
                </c:pt>
                <c:pt idx="16">
                  <c:v>Home and kitchen</c:v>
                </c:pt>
                <c:pt idx="17">
                  <c:v>Home and Lifestyle </c:v>
                </c:pt>
                <c:pt idx="18">
                  <c:v>Jewelry</c:v>
                </c:pt>
                <c:pt idx="19">
                  <c:v>Pet Supplies</c:v>
                </c:pt>
                <c:pt idx="20">
                  <c:v>Sports &amp; Fitness</c:v>
                </c:pt>
                <c:pt idx="21">
                  <c:v>Toys</c:v>
                </c:pt>
              </c:strCache>
            </c:strRef>
          </c:cat>
          <c:val>
            <c:numRef>
              <c:f>'Share of each type of Product'!$B$34:$B$56</c:f>
              <c:numCache>
                <c:formatCode>_ [$₹-4009]\ * #,##0.00_ ;_ [$₹-4009]\ * \-#,##0.00_ ;_ [$₹-4009]\ * "-"??_ ;_ @_ </c:formatCode>
                <c:ptCount val="22"/>
                <c:pt idx="0">
                  <c:v>27720</c:v>
                </c:pt>
                <c:pt idx="1">
                  <c:v>4756657</c:v>
                </c:pt>
                <c:pt idx="2">
                  <c:v>465400</c:v>
                </c:pt>
                <c:pt idx="3">
                  <c:v>190147.5</c:v>
                </c:pt>
                <c:pt idx="4">
                  <c:v>80343.100000000006</c:v>
                </c:pt>
                <c:pt idx="5">
                  <c:v>4500</c:v>
                </c:pt>
                <c:pt idx="6">
                  <c:v>36750</c:v>
                </c:pt>
                <c:pt idx="7">
                  <c:v>48608</c:v>
                </c:pt>
                <c:pt idx="8">
                  <c:v>17310</c:v>
                </c:pt>
                <c:pt idx="9">
                  <c:v>9820809.1999999993</c:v>
                </c:pt>
                <c:pt idx="10">
                  <c:v>601625</c:v>
                </c:pt>
                <c:pt idx="11">
                  <c:v>99880</c:v>
                </c:pt>
                <c:pt idx="12">
                  <c:v>189550</c:v>
                </c:pt>
                <c:pt idx="13">
                  <c:v>162284</c:v>
                </c:pt>
                <c:pt idx="14">
                  <c:v>6615</c:v>
                </c:pt>
                <c:pt idx="15">
                  <c:v>3553380</c:v>
                </c:pt>
                <c:pt idx="16">
                  <c:v>341310</c:v>
                </c:pt>
                <c:pt idx="17">
                  <c:v>4200</c:v>
                </c:pt>
                <c:pt idx="18">
                  <c:v>200000</c:v>
                </c:pt>
                <c:pt idx="19">
                  <c:v>48000</c:v>
                </c:pt>
                <c:pt idx="20">
                  <c:v>612300</c:v>
                </c:pt>
                <c:pt idx="21">
                  <c:v>65880</c:v>
                </c:pt>
              </c:numCache>
            </c:numRef>
          </c:val>
          <c:extLst>
            <c:ext xmlns:c16="http://schemas.microsoft.com/office/drawing/2014/chart" uri="{C3380CC4-5D6E-409C-BE32-E72D297353CC}">
              <c16:uniqueId val="{00000000-CB4D-4F65-A9EF-987117FDEFE2}"/>
            </c:ext>
          </c:extLst>
        </c:ser>
        <c:ser>
          <c:idx val="1"/>
          <c:order val="1"/>
          <c:tx>
            <c:strRef>
              <c:f>'Share of each type of Product'!$C$33</c:f>
              <c:strCache>
                <c:ptCount val="1"/>
                <c:pt idx="0">
                  <c:v>Sum of Surplus</c:v>
                </c:pt>
              </c:strCache>
            </c:strRef>
          </c:tx>
          <c:spPr>
            <a:solidFill>
              <a:schemeClr val="accent2"/>
            </a:solidFill>
            <a:ln>
              <a:noFill/>
            </a:ln>
            <a:effectLst/>
          </c:spPr>
          <c:cat>
            <c:strRef>
              <c:f>'Share of each type of Product'!$A$34:$A$56</c:f>
              <c:strCache>
                <c:ptCount val="22"/>
                <c:pt idx="0">
                  <c:v>Apparel</c:v>
                </c:pt>
                <c:pt idx="1">
                  <c:v>Art and collections</c:v>
                </c:pt>
                <c:pt idx="2">
                  <c:v>Automotive</c:v>
                </c:pt>
                <c:pt idx="3">
                  <c:v>Beverages</c:v>
                </c:pt>
                <c:pt idx="4">
                  <c:v>Books &amp; Stationeries</c:v>
                </c:pt>
                <c:pt idx="5">
                  <c:v>Confectionaries</c:v>
                </c:pt>
                <c:pt idx="6">
                  <c:v>Cosmetics</c:v>
                </c:pt>
                <c:pt idx="7">
                  <c:v>Drinkware</c:v>
                </c:pt>
                <c:pt idx="8">
                  <c:v>Dry Fruits</c:v>
                </c:pt>
                <c:pt idx="9">
                  <c:v>Electronics</c:v>
                </c:pt>
                <c:pt idx="10">
                  <c:v>Fashion &amp; Acessories</c:v>
                </c:pt>
                <c:pt idx="11">
                  <c:v>Food and Beverages</c:v>
                </c:pt>
                <c:pt idx="12">
                  <c:v>Furniture</c:v>
                </c:pt>
                <c:pt idx="13">
                  <c:v>Hardware</c:v>
                </c:pt>
                <c:pt idx="14">
                  <c:v>Health &amp; Beauty</c:v>
                </c:pt>
                <c:pt idx="15">
                  <c:v>Home &amp; décor</c:v>
                </c:pt>
                <c:pt idx="16">
                  <c:v>Home and kitchen</c:v>
                </c:pt>
                <c:pt idx="17">
                  <c:v>Home and Lifestyle </c:v>
                </c:pt>
                <c:pt idx="18">
                  <c:v>Jewelry</c:v>
                </c:pt>
                <c:pt idx="19">
                  <c:v>Pet Supplies</c:v>
                </c:pt>
                <c:pt idx="20">
                  <c:v>Sports &amp; Fitness</c:v>
                </c:pt>
                <c:pt idx="21">
                  <c:v>Toys</c:v>
                </c:pt>
              </c:strCache>
            </c:strRef>
          </c:cat>
          <c:val>
            <c:numRef>
              <c:f>'Share of each type of Product'!$C$34:$C$56</c:f>
              <c:numCache>
                <c:formatCode>_ [$₹-4009]\ * #,##0.00_ ;_ [$₹-4009]\ * \-#,##0.00_ ;_ [$₹-4009]\ * "-"??_ ;_ @_ </c:formatCode>
                <c:ptCount val="22"/>
                <c:pt idx="0">
                  <c:v>4620</c:v>
                </c:pt>
                <c:pt idx="1">
                  <c:v>879467</c:v>
                </c:pt>
                <c:pt idx="2">
                  <c:v>113400</c:v>
                </c:pt>
                <c:pt idx="3">
                  <c:v>35597.5</c:v>
                </c:pt>
                <c:pt idx="4">
                  <c:v>21909.1</c:v>
                </c:pt>
                <c:pt idx="5">
                  <c:v>900</c:v>
                </c:pt>
                <c:pt idx="6">
                  <c:v>4950</c:v>
                </c:pt>
                <c:pt idx="7">
                  <c:v>9408</c:v>
                </c:pt>
                <c:pt idx="8">
                  <c:v>3160</c:v>
                </c:pt>
                <c:pt idx="9">
                  <c:v>1926843.2</c:v>
                </c:pt>
                <c:pt idx="10">
                  <c:v>142925</c:v>
                </c:pt>
                <c:pt idx="11">
                  <c:v>23330</c:v>
                </c:pt>
                <c:pt idx="12">
                  <c:v>38550</c:v>
                </c:pt>
                <c:pt idx="13">
                  <c:v>40384</c:v>
                </c:pt>
                <c:pt idx="14">
                  <c:v>1715</c:v>
                </c:pt>
                <c:pt idx="15">
                  <c:v>659630</c:v>
                </c:pt>
                <c:pt idx="16">
                  <c:v>60710</c:v>
                </c:pt>
                <c:pt idx="17">
                  <c:v>1200</c:v>
                </c:pt>
                <c:pt idx="18">
                  <c:v>40000</c:v>
                </c:pt>
                <c:pt idx="19">
                  <c:v>10500</c:v>
                </c:pt>
                <c:pt idx="20">
                  <c:v>160300</c:v>
                </c:pt>
                <c:pt idx="21">
                  <c:v>11430</c:v>
                </c:pt>
              </c:numCache>
            </c:numRef>
          </c:val>
          <c:extLst>
            <c:ext xmlns:c16="http://schemas.microsoft.com/office/drawing/2014/chart" uri="{C3380CC4-5D6E-409C-BE32-E72D297353CC}">
              <c16:uniqueId val="{00000001-CB4D-4F65-A9EF-987117FDEFE2}"/>
            </c:ext>
          </c:extLst>
        </c:ser>
        <c:ser>
          <c:idx val="2"/>
          <c:order val="2"/>
          <c:tx>
            <c:strRef>
              <c:f>'Share of each type of Product'!$D$33</c:f>
              <c:strCache>
                <c:ptCount val="1"/>
                <c:pt idx="0">
                  <c:v>Count of Quantity</c:v>
                </c:pt>
              </c:strCache>
            </c:strRef>
          </c:tx>
          <c:spPr>
            <a:solidFill>
              <a:schemeClr val="accent3"/>
            </a:solidFill>
            <a:ln>
              <a:noFill/>
            </a:ln>
            <a:effectLst/>
          </c:spPr>
          <c:cat>
            <c:strRef>
              <c:f>'Share of each type of Product'!$A$34:$A$56</c:f>
              <c:strCache>
                <c:ptCount val="22"/>
                <c:pt idx="0">
                  <c:v>Apparel</c:v>
                </c:pt>
                <c:pt idx="1">
                  <c:v>Art and collections</c:v>
                </c:pt>
                <c:pt idx="2">
                  <c:v>Automotive</c:v>
                </c:pt>
                <c:pt idx="3">
                  <c:v>Beverages</c:v>
                </c:pt>
                <c:pt idx="4">
                  <c:v>Books &amp; Stationeries</c:v>
                </c:pt>
                <c:pt idx="5">
                  <c:v>Confectionaries</c:v>
                </c:pt>
                <c:pt idx="6">
                  <c:v>Cosmetics</c:v>
                </c:pt>
                <c:pt idx="7">
                  <c:v>Drinkware</c:v>
                </c:pt>
                <c:pt idx="8">
                  <c:v>Dry Fruits</c:v>
                </c:pt>
                <c:pt idx="9">
                  <c:v>Electronics</c:v>
                </c:pt>
                <c:pt idx="10">
                  <c:v>Fashion &amp; Acessories</c:v>
                </c:pt>
                <c:pt idx="11">
                  <c:v>Food and Beverages</c:v>
                </c:pt>
                <c:pt idx="12">
                  <c:v>Furniture</c:v>
                </c:pt>
                <c:pt idx="13">
                  <c:v>Hardware</c:v>
                </c:pt>
                <c:pt idx="14">
                  <c:v>Health &amp; Beauty</c:v>
                </c:pt>
                <c:pt idx="15">
                  <c:v>Home &amp; décor</c:v>
                </c:pt>
                <c:pt idx="16">
                  <c:v>Home and kitchen</c:v>
                </c:pt>
                <c:pt idx="17">
                  <c:v>Home and Lifestyle </c:v>
                </c:pt>
                <c:pt idx="18">
                  <c:v>Jewelry</c:v>
                </c:pt>
                <c:pt idx="19">
                  <c:v>Pet Supplies</c:v>
                </c:pt>
                <c:pt idx="20">
                  <c:v>Sports &amp; Fitness</c:v>
                </c:pt>
                <c:pt idx="21">
                  <c:v>Toys</c:v>
                </c:pt>
              </c:strCache>
            </c:strRef>
          </c:cat>
          <c:val>
            <c:numRef>
              <c:f>'Share of each type of Product'!$D$34:$D$56</c:f>
              <c:numCache>
                <c:formatCode>General</c:formatCode>
                <c:ptCount val="22"/>
                <c:pt idx="0">
                  <c:v>1</c:v>
                </c:pt>
                <c:pt idx="1">
                  <c:v>33</c:v>
                </c:pt>
                <c:pt idx="2">
                  <c:v>3</c:v>
                </c:pt>
                <c:pt idx="3">
                  <c:v>8</c:v>
                </c:pt>
                <c:pt idx="4">
                  <c:v>13</c:v>
                </c:pt>
                <c:pt idx="5">
                  <c:v>1</c:v>
                </c:pt>
                <c:pt idx="6">
                  <c:v>2</c:v>
                </c:pt>
                <c:pt idx="7">
                  <c:v>1</c:v>
                </c:pt>
                <c:pt idx="8">
                  <c:v>2</c:v>
                </c:pt>
                <c:pt idx="9">
                  <c:v>80</c:v>
                </c:pt>
                <c:pt idx="10">
                  <c:v>5</c:v>
                </c:pt>
                <c:pt idx="11">
                  <c:v>3</c:v>
                </c:pt>
                <c:pt idx="12">
                  <c:v>3</c:v>
                </c:pt>
                <c:pt idx="13">
                  <c:v>6</c:v>
                </c:pt>
                <c:pt idx="14">
                  <c:v>1</c:v>
                </c:pt>
                <c:pt idx="15">
                  <c:v>18</c:v>
                </c:pt>
                <c:pt idx="16">
                  <c:v>9</c:v>
                </c:pt>
                <c:pt idx="17">
                  <c:v>1</c:v>
                </c:pt>
                <c:pt idx="18">
                  <c:v>1</c:v>
                </c:pt>
                <c:pt idx="19">
                  <c:v>1</c:v>
                </c:pt>
                <c:pt idx="20">
                  <c:v>5</c:v>
                </c:pt>
                <c:pt idx="21">
                  <c:v>3</c:v>
                </c:pt>
              </c:numCache>
            </c:numRef>
          </c:val>
          <c:extLst>
            <c:ext xmlns:c16="http://schemas.microsoft.com/office/drawing/2014/chart" uri="{C3380CC4-5D6E-409C-BE32-E72D297353CC}">
              <c16:uniqueId val="{00000002-CB4D-4F65-A9EF-987117FDEFE2}"/>
            </c:ext>
          </c:extLst>
        </c:ser>
        <c:dLbls>
          <c:showLegendKey val="0"/>
          <c:showVal val="0"/>
          <c:showCatName val="0"/>
          <c:showSerName val="0"/>
          <c:showPercent val="0"/>
          <c:showBubbleSize val="0"/>
        </c:dLbls>
        <c:axId val="1025324191"/>
        <c:axId val="1261341375"/>
      </c:areaChart>
      <c:catAx>
        <c:axId val="1025324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1341375"/>
        <c:crosses val="autoZero"/>
        <c:auto val="1"/>
        <c:lblAlgn val="ctr"/>
        <c:lblOffset val="100"/>
        <c:noMultiLvlLbl val="0"/>
      </c:catAx>
      <c:valAx>
        <c:axId val="1261341375"/>
        <c:scaling>
          <c:orientation val="minMax"/>
        </c:scaling>
        <c:delete val="0"/>
        <c:axPos val="l"/>
        <c:majorGridlines>
          <c:spPr>
            <a:ln w="9525" cap="flat" cmpd="sng" algn="ctr">
              <a:solidFill>
                <a:schemeClr val="tx1">
                  <a:lumMod val="15000"/>
                  <a:lumOff val="85000"/>
                </a:schemeClr>
              </a:solidFill>
              <a:round/>
            </a:ln>
            <a:effectLst/>
          </c:spPr>
        </c:majorGridlines>
        <c:numFmt formatCode="_ [$₹-4009]\ * #,##0.00_ ;_ [$₹-4009]\ * \-#,##0.00_ ;_ [$₹-4009]\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324191"/>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[ecommerce_sales_analytics(AutoRecovered).xlsx]operational analysis of firm!PivotTable3</c:name>
    <c:fmtId val="18"/>
  </c:pivotSource>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'operational analysis of firm'!$B$3</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extLst>
              <c:ext xmlns:c16="http://schemas.microsoft.com/office/drawing/2014/chart" uri="{C3380CC4-5D6E-409C-BE32-E72D297353CC}">
                <c16:uniqueId val="{00000001-7F0D-42CF-8570-E1846960FD7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extLst>
              <c:ext xmlns:c16="http://schemas.microsoft.com/office/drawing/2014/chart" uri="{C3380CC4-5D6E-409C-BE32-E72D297353CC}">
                <c16:uniqueId val="{00000003-7F0D-42CF-8570-E1846960FD7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'operational analysis of firm'!$A$4:$A$6</c:f>
              <c:strCache>
                <c:ptCount val="2"/>
                <c:pt idx="0">
                  <c:v>Delivered</c:v>
                </c:pt>
                <c:pt idx="1">
                  <c:v>Pending</c:v>
                </c:pt>
              </c:strCache>
            </c:strRef>
          </c:cat>
          <c:val>
            <c:numRef>
              <c:f>'operational analysis of firm'!$B$4:$B$6</c:f>
              <c:numCache>
                <c:formatCode>General</c:formatCode>
                <c:ptCount val="2"/>
                <c:pt idx="0">
                  <c:v>61</c:v>
                </c:pt>
                <c:pt idx="1">
                  <c:v>139</c:v>
                </c:pt>
              </c:numCache>
            </c:numRef>
          </c:val>
          <c:extLst>
            <c:ext xmlns:c16="http://schemas.microsoft.com/office/drawing/2014/chart" uri="{C3380CC4-5D6E-409C-BE32-E72D297353CC}">
              <c16:uniqueId val="{00000004-7F0D-42CF-8570-E1846960FD79}"/>
            </c:ext>
          </c:extLst>
        </c:ser>
        <c:dLbls>
          <c:dLblPos val="bestFit"/>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329894-BCF9-4E6B-BB7C-7EA85522B9C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6F2CD9D8-2F5F-4A7F-9BFC-8594B43ED13C}">
      <dgm:prSet phldrT="[Text]" phldr="0" custT="1"/>
      <dgm:spPr/>
      <dgm:t>
        <a:bodyPr/>
        <a:lstStyle/>
        <a:p>
          <a:r>
            <a:rPr lang="en-US" dirty="0">
              <a:latin typeface="Bahnschrift SemiBold Condensed" panose="020B0502040204020203" pitchFamily="34" charset="0"/>
            </a:rPr>
            <a:t>Total Orders:200</a:t>
          </a:r>
        </a:p>
      </dgm:t>
    </dgm:pt>
    <dgm:pt modelId="{4BD3447A-723E-467B-A307-AE07C0FD0EB3}" type="parTrans" cxnId="{8403E627-3814-47E7-9D73-9AB561B9C7F3}">
      <dgm:prSet/>
      <dgm:spPr/>
      <dgm:t>
        <a:bodyPr/>
        <a:lstStyle/>
        <a:p>
          <a:endParaRPr lang="en-US"/>
        </a:p>
      </dgm:t>
    </dgm:pt>
    <dgm:pt modelId="{5EB6E05C-A919-4100-80E7-3EA384C1A680}" type="sibTrans" cxnId="{8403E627-3814-47E7-9D73-9AB561B9C7F3}">
      <dgm:prSet/>
      <dgm:spPr/>
      <dgm:t>
        <a:bodyPr/>
        <a:lstStyle/>
        <a:p>
          <a:endParaRPr lang="en-US"/>
        </a:p>
      </dgm:t>
    </dgm:pt>
    <dgm:pt modelId="{F1135A98-ECFB-4046-8D14-88FDB711CD30}">
      <dgm:prSet phldrT="[Text]" phldr="0" custT="1"/>
      <dgm:spPr/>
      <dgm:t>
        <a:bodyPr/>
        <a:lstStyle/>
        <a:p>
          <a:pPr algn="ctr"/>
          <a:r>
            <a:rPr lang="en-US" sz="3600" dirty="0">
              <a:latin typeface="Bahnschrift SemiBold Condensed" panose="020B0502040204020203" pitchFamily="34" charset="0"/>
            </a:rPr>
            <a:t>Total Customers:200</a:t>
          </a:r>
        </a:p>
      </dgm:t>
    </dgm:pt>
    <dgm:pt modelId="{5CA0F499-56E7-49B0-9D77-2FC63937DBA9}" type="parTrans" cxnId="{17D7E810-B08D-42C2-A5F9-AECD5A4C844B}">
      <dgm:prSet/>
      <dgm:spPr/>
      <dgm:t>
        <a:bodyPr/>
        <a:lstStyle/>
        <a:p>
          <a:endParaRPr lang="en-US"/>
        </a:p>
      </dgm:t>
    </dgm:pt>
    <dgm:pt modelId="{B9AB38BA-081E-47A7-AF43-885D4C5911C1}" type="sibTrans" cxnId="{17D7E810-B08D-42C2-A5F9-AECD5A4C844B}">
      <dgm:prSet/>
      <dgm:spPr/>
      <dgm:t>
        <a:bodyPr/>
        <a:lstStyle/>
        <a:p>
          <a:endParaRPr lang="en-US"/>
        </a:p>
      </dgm:t>
    </dgm:pt>
    <dgm:pt modelId="{B055CBFC-258F-4C55-99A5-B788FE88F193}">
      <dgm:prSet phldrT="[Text]" phldr="0" custT="1"/>
      <dgm:spPr/>
      <dgm:t>
        <a:bodyPr/>
        <a:lstStyle/>
        <a:p>
          <a:r>
            <a:rPr lang="en-US" sz="3600" dirty="0">
              <a:latin typeface="Bahnschrift SemiBold Condensed" panose="020B0502040204020203" pitchFamily="34" charset="0"/>
            </a:rPr>
            <a:t>Total Quantities Sold:1132</a:t>
          </a:r>
        </a:p>
      </dgm:t>
    </dgm:pt>
    <dgm:pt modelId="{B2CB617A-6C47-4AEE-8CAB-2589A1E9CFDE}" type="parTrans" cxnId="{B24CE69D-7ABF-4B2F-B62D-B5F731050035}">
      <dgm:prSet/>
      <dgm:spPr/>
      <dgm:t>
        <a:bodyPr/>
        <a:lstStyle/>
        <a:p>
          <a:endParaRPr lang="en-US"/>
        </a:p>
      </dgm:t>
    </dgm:pt>
    <dgm:pt modelId="{FF88B963-F42C-4B76-859E-4C62D471ABAC}" type="sibTrans" cxnId="{B24CE69D-7ABF-4B2F-B62D-B5F731050035}">
      <dgm:prSet/>
      <dgm:spPr/>
      <dgm:t>
        <a:bodyPr/>
        <a:lstStyle/>
        <a:p>
          <a:endParaRPr lang="en-US"/>
        </a:p>
      </dgm:t>
    </dgm:pt>
    <dgm:pt modelId="{6A8C760B-29F0-4044-A81E-1EF473A2B310}">
      <dgm:prSet phldrT="[Text]" phldr="0" custT="1"/>
      <dgm:spPr/>
      <dgm:t>
        <a:bodyPr/>
        <a:lstStyle/>
        <a:p>
          <a:r>
            <a:rPr lang="en-US" sz="3600" dirty="0">
              <a:latin typeface="Bahnschrift SemiBold Condensed" panose="020B0502040204020203" pitchFamily="34" charset="0"/>
            </a:rPr>
            <a:t>Surplus</a:t>
          </a:r>
        </a:p>
      </dgm:t>
    </dgm:pt>
    <dgm:pt modelId="{3E0AA90A-EF96-47F6-8DA8-8DB87CDCF323}" type="parTrans" cxnId="{59A8D2DD-4A31-421D-958C-2817F608CCD1}">
      <dgm:prSet/>
      <dgm:spPr/>
      <dgm:t>
        <a:bodyPr/>
        <a:lstStyle/>
        <a:p>
          <a:endParaRPr lang="en-US"/>
        </a:p>
      </dgm:t>
    </dgm:pt>
    <dgm:pt modelId="{847B12E0-A46F-4711-9CDA-87159F8D9F64}" type="sibTrans" cxnId="{59A8D2DD-4A31-421D-958C-2817F608CCD1}">
      <dgm:prSet/>
      <dgm:spPr/>
      <dgm:t>
        <a:bodyPr/>
        <a:lstStyle/>
        <a:p>
          <a:endParaRPr lang="en-US"/>
        </a:p>
      </dgm:t>
    </dgm:pt>
    <dgm:pt modelId="{48013FBA-36BA-4380-A054-F1FBFE5C9498}">
      <dgm:prSet phldrT="[Text]" phldr="0" custT="1"/>
      <dgm:spPr/>
      <dgm:t>
        <a:bodyPr/>
        <a:lstStyle/>
        <a:p>
          <a:r>
            <a:rPr lang="en-US" sz="3200" dirty="0">
              <a:latin typeface="Bahnschrift SemiBold Condensed" panose="020B0502040204020203" pitchFamily="34" charset="0"/>
            </a:rPr>
            <a:t>Types of products:22</a:t>
          </a:r>
        </a:p>
      </dgm:t>
    </dgm:pt>
    <dgm:pt modelId="{1D81BB0C-AFF3-4984-AB2A-7A5AF550FBC4}" type="parTrans" cxnId="{D90418D8-9BE0-43E9-9A97-EFACF0A0C8DE}">
      <dgm:prSet/>
      <dgm:spPr/>
      <dgm:t>
        <a:bodyPr/>
        <a:lstStyle/>
        <a:p>
          <a:endParaRPr lang="en-US"/>
        </a:p>
      </dgm:t>
    </dgm:pt>
    <dgm:pt modelId="{B7FE14D0-6672-479A-93A5-915F572D959B}" type="sibTrans" cxnId="{D90418D8-9BE0-43E9-9A97-EFACF0A0C8DE}">
      <dgm:prSet/>
      <dgm:spPr/>
      <dgm:t>
        <a:bodyPr/>
        <a:lstStyle/>
        <a:p>
          <a:endParaRPr lang="en-US"/>
        </a:p>
      </dgm:t>
    </dgm:pt>
    <dgm:pt modelId="{D4E84A7A-3645-4749-8164-834FAE772DD5}" type="pres">
      <dgm:prSet presAssocID="{1D329894-BCF9-4E6B-BB7C-7EA85522B9C5}" presName="diagram" presStyleCnt="0">
        <dgm:presLayoutVars>
          <dgm:dir/>
          <dgm:resizeHandles val="exact"/>
        </dgm:presLayoutVars>
      </dgm:prSet>
      <dgm:spPr/>
    </dgm:pt>
    <dgm:pt modelId="{1EB2B8D1-73A1-43C3-B363-3730FBAB4703}" type="pres">
      <dgm:prSet presAssocID="{6F2CD9D8-2F5F-4A7F-9BFC-8594B43ED13C}" presName="node" presStyleLbl="node1" presStyleIdx="0" presStyleCnt="5">
        <dgm:presLayoutVars>
          <dgm:bulletEnabled val="1"/>
        </dgm:presLayoutVars>
      </dgm:prSet>
      <dgm:spPr/>
    </dgm:pt>
    <dgm:pt modelId="{6E69952B-E49D-4D8F-BE8C-F6036CC6C041}" type="pres">
      <dgm:prSet presAssocID="{5EB6E05C-A919-4100-80E7-3EA384C1A680}" presName="sibTrans" presStyleCnt="0"/>
      <dgm:spPr/>
    </dgm:pt>
    <dgm:pt modelId="{C994FE3C-DEDA-4C9E-95E5-1A3363770FEC}" type="pres">
      <dgm:prSet presAssocID="{F1135A98-ECFB-4046-8D14-88FDB711CD30}" presName="node" presStyleLbl="node1" presStyleIdx="1" presStyleCnt="5">
        <dgm:presLayoutVars>
          <dgm:bulletEnabled val="1"/>
        </dgm:presLayoutVars>
      </dgm:prSet>
      <dgm:spPr/>
    </dgm:pt>
    <dgm:pt modelId="{91DB5E8A-4200-407C-B908-1C3D349C0E40}" type="pres">
      <dgm:prSet presAssocID="{B9AB38BA-081E-47A7-AF43-885D4C5911C1}" presName="sibTrans" presStyleCnt="0"/>
      <dgm:spPr/>
    </dgm:pt>
    <dgm:pt modelId="{CCA828B3-0789-4CBE-B322-39700D460629}" type="pres">
      <dgm:prSet presAssocID="{B055CBFC-258F-4C55-99A5-B788FE88F193}" presName="node" presStyleLbl="node1" presStyleIdx="2" presStyleCnt="5">
        <dgm:presLayoutVars>
          <dgm:bulletEnabled val="1"/>
        </dgm:presLayoutVars>
      </dgm:prSet>
      <dgm:spPr/>
    </dgm:pt>
    <dgm:pt modelId="{D7A0BF5B-390A-4356-81DC-9C17787428B5}" type="pres">
      <dgm:prSet presAssocID="{FF88B963-F42C-4B76-859E-4C62D471ABAC}" presName="sibTrans" presStyleCnt="0"/>
      <dgm:spPr/>
    </dgm:pt>
    <dgm:pt modelId="{A7CFC0A2-9ECE-4F82-8C5A-336DF31CC867}" type="pres">
      <dgm:prSet presAssocID="{6A8C760B-29F0-4044-A81E-1EF473A2B310}" presName="node" presStyleLbl="node1" presStyleIdx="3" presStyleCnt="5">
        <dgm:presLayoutVars>
          <dgm:bulletEnabled val="1"/>
        </dgm:presLayoutVars>
      </dgm:prSet>
      <dgm:spPr/>
    </dgm:pt>
    <dgm:pt modelId="{CD9971F4-E110-4F76-A406-5EAABDE3A967}" type="pres">
      <dgm:prSet presAssocID="{847B12E0-A46F-4711-9CDA-87159F8D9F64}" presName="sibTrans" presStyleCnt="0"/>
      <dgm:spPr/>
    </dgm:pt>
    <dgm:pt modelId="{AD5FF042-E91A-495A-B2B6-E13B5ECC6663}" type="pres">
      <dgm:prSet presAssocID="{48013FBA-36BA-4380-A054-F1FBFE5C9498}" presName="node" presStyleLbl="node1" presStyleIdx="4" presStyleCnt="5">
        <dgm:presLayoutVars>
          <dgm:bulletEnabled val="1"/>
        </dgm:presLayoutVars>
      </dgm:prSet>
      <dgm:spPr/>
    </dgm:pt>
  </dgm:ptLst>
  <dgm:cxnLst>
    <dgm:cxn modelId="{17D7E810-B08D-42C2-A5F9-AECD5A4C844B}" srcId="{1D329894-BCF9-4E6B-BB7C-7EA85522B9C5}" destId="{F1135A98-ECFB-4046-8D14-88FDB711CD30}" srcOrd="1" destOrd="0" parTransId="{5CA0F499-56E7-49B0-9D77-2FC63937DBA9}" sibTransId="{B9AB38BA-081E-47A7-AF43-885D4C5911C1}"/>
    <dgm:cxn modelId="{252F2716-77D7-4CA1-B3F4-5CEF88780BAF}" type="presOf" srcId="{6F2CD9D8-2F5F-4A7F-9BFC-8594B43ED13C}" destId="{1EB2B8D1-73A1-43C3-B363-3730FBAB4703}" srcOrd="0" destOrd="0" presId="urn:microsoft.com/office/officeart/2005/8/layout/default"/>
    <dgm:cxn modelId="{8403E627-3814-47E7-9D73-9AB561B9C7F3}" srcId="{1D329894-BCF9-4E6B-BB7C-7EA85522B9C5}" destId="{6F2CD9D8-2F5F-4A7F-9BFC-8594B43ED13C}" srcOrd="0" destOrd="0" parTransId="{4BD3447A-723E-467B-A307-AE07C0FD0EB3}" sibTransId="{5EB6E05C-A919-4100-80E7-3EA384C1A680}"/>
    <dgm:cxn modelId="{A25D7359-76AD-420E-B956-7542A13514E2}" type="presOf" srcId="{48013FBA-36BA-4380-A054-F1FBFE5C9498}" destId="{AD5FF042-E91A-495A-B2B6-E13B5ECC6663}" srcOrd="0" destOrd="0" presId="urn:microsoft.com/office/officeart/2005/8/layout/default"/>
    <dgm:cxn modelId="{1097149C-BA77-45F4-8B31-E6F515059322}" type="presOf" srcId="{6A8C760B-29F0-4044-A81E-1EF473A2B310}" destId="{A7CFC0A2-9ECE-4F82-8C5A-336DF31CC867}" srcOrd="0" destOrd="0" presId="urn:microsoft.com/office/officeart/2005/8/layout/default"/>
    <dgm:cxn modelId="{B24CE69D-7ABF-4B2F-B62D-B5F731050035}" srcId="{1D329894-BCF9-4E6B-BB7C-7EA85522B9C5}" destId="{B055CBFC-258F-4C55-99A5-B788FE88F193}" srcOrd="2" destOrd="0" parTransId="{B2CB617A-6C47-4AEE-8CAB-2589A1E9CFDE}" sibTransId="{FF88B963-F42C-4B76-859E-4C62D471ABAC}"/>
    <dgm:cxn modelId="{405212C6-4E79-43FE-905D-BC9571E50445}" type="presOf" srcId="{1D329894-BCF9-4E6B-BB7C-7EA85522B9C5}" destId="{D4E84A7A-3645-4749-8164-834FAE772DD5}" srcOrd="0" destOrd="0" presId="urn:microsoft.com/office/officeart/2005/8/layout/default"/>
    <dgm:cxn modelId="{D90418D8-9BE0-43E9-9A97-EFACF0A0C8DE}" srcId="{1D329894-BCF9-4E6B-BB7C-7EA85522B9C5}" destId="{48013FBA-36BA-4380-A054-F1FBFE5C9498}" srcOrd="4" destOrd="0" parTransId="{1D81BB0C-AFF3-4984-AB2A-7A5AF550FBC4}" sibTransId="{B7FE14D0-6672-479A-93A5-915F572D959B}"/>
    <dgm:cxn modelId="{59A8D2DD-4A31-421D-958C-2817F608CCD1}" srcId="{1D329894-BCF9-4E6B-BB7C-7EA85522B9C5}" destId="{6A8C760B-29F0-4044-A81E-1EF473A2B310}" srcOrd="3" destOrd="0" parTransId="{3E0AA90A-EF96-47F6-8DA8-8DB87CDCF323}" sibTransId="{847B12E0-A46F-4711-9CDA-87159F8D9F64}"/>
    <dgm:cxn modelId="{AA0270FF-8BE6-4856-A8B5-7667F67425C5}" type="presOf" srcId="{B055CBFC-258F-4C55-99A5-B788FE88F193}" destId="{CCA828B3-0789-4CBE-B322-39700D460629}" srcOrd="0" destOrd="0" presId="urn:microsoft.com/office/officeart/2005/8/layout/default"/>
    <dgm:cxn modelId="{B2C1E1FF-8BD8-4B7C-AD85-AD8435DF4010}" type="presOf" srcId="{F1135A98-ECFB-4046-8D14-88FDB711CD30}" destId="{C994FE3C-DEDA-4C9E-95E5-1A3363770FEC}" srcOrd="0" destOrd="0" presId="urn:microsoft.com/office/officeart/2005/8/layout/default"/>
    <dgm:cxn modelId="{26F01586-84D0-414E-8B56-EBEC95B7EBF4}" type="presParOf" srcId="{D4E84A7A-3645-4749-8164-834FAE772DD5}" destId="{1EB2B8D1-73A1-43C3-B363-3730FBAB4703}" srcOrd="0" destOrd="0" presId="urn:microsoft.com/office/officeart/2005/8/layout/default"/>
    <dgm:cxn modelId="{1BE35418-FB3C-4464-A539-911A2973B431}" type="presParOf" srcId="{D4E84A7A-3645-4749-8164-834FAE772DD5}" destId="{6E69952B-E49D-4D8F-BE8C-F6036CC6C041}" srcOrd="1" destOrd="0" presId="urn:microsoft.com/office/officeart/2005/8/layout/default"/>
    <dgm:cxn modelId="{0CC2FADA-B343-4E6A-A46A-97C789229BC1}" type="presParOf" srcId="{D4E84A7A-3645-4749-8164-834FAE772DD5}" destId="{C994FE3C-DEDA-4C9E-95E5-1A3363770FEC}" srcOrd="2" destOrd="0" presId="urn:microsoft.com/office/officeart/2005/8/layout/default"/>
    <dgm:cxn modelId="{A63CF9E3-493B-489C-9402-7824ED4C471E}" type="presParOf" srcId="{D4E84A7A-3645-4749-8164-834FAE772DD5}" destId="{91DB5E8A-4200-407C-B908-1C3D349C0E40}" srcOrd="3" destOrd="0" presId="urn:microsoft.com/office/officeart/2005/8/layout/default"/>
    <dgm:cxn modelId="{4E39FA07-8ABA-4DE8-A121-5B34BFBD16F2}" type="presParOf" srcId="{D4E84A7A-3645-4749-8164-834FAE772DD5}" destId="{CCA828B3-0789-4CBE-B322-39700D460629}" srcOrd="4" destOrd="0" presId="urn:microsoft.com/office/officeart/2005/8/layout/default"/>
    <dgm:cxn modelId="{BBB4278B-70BD-442F-A262-F84F1BF3E138}" type="presParOf" srcId="{D4E84A7A-3645-4749-8164-834FAE772DD5}" destId="{D7A0BF5B-390A-4356-81DC-9C17787428B5}" srcOrd="5" destOrd="0" presId="urn:microsoft.com/office/officeart/2005/8/layout/default"/>
    <dgm:cxn modelId="{D3F0689D-6456-4FF6-9907-7F2816946EC8}" type="presParOf" srcId="{D4E84A7A-3645-4749-8164-834FAE772DD5}" destId="{A7CFC0A2-9ECE-4F82-8C5A-336DF31CC867}" srcOrd="6" destOrd="0" presId="urn:microsoft.com/office/officeart/2005/8/layout/default"/>
    <dgm:cxn modelId="{8AA581C1-1453-4905-826A-039833340000}" type="presParOf" srcId="{D4E84A7A-3645-4749-8164-834FAE772DD5}" destId="{CD9971F4-E110-4F76-A406-5EAABDE3A967}" srcOrd="7" destOrd="0" presId="urn:microsoft.com/office/officeart/2005/8/layout/default"/>
    <dgm:cxn modelId="{66815D4E-49C7-4426-8B26-B34C252D2DB6}" type="presParOf" srcId="{D4E84A7A-3645-4749-8164-834FAE772DD5}" destId="{AD5FF042-E91A-495A-B2B6-E13B5ECC6663}"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2B8D1-73A1-43C3-B363-3730FBAB4703}">
      <dsp:nvSpPr>
        <dsp:cNvPr id="0" name=""/>
        <dsp:cNvSpPr/>
      </dsp:nvSpPr>
      <dsp:spPr>
        <a:xfrm>
          <a:off x="1110555" y="1106"/>
          <a:ext cx="2401527" cy="144091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Bahnschrift SemiBold Condensed" panose="020B0502040204020203" pitchFamily="34" charset="0"/>
            </a:rPr>
            <a:t>Total Orders:200</a:t>
          </a:r>
        </a:p>
      </dsp:txBody>
      <dsp:txXfrm>
        <a:off x="1110555" y="1106"/>
        <a:ext cx="2401527" cy="1440916"/>
      </dsp:txXfrm>
    </dsp:sp>
    <dsp:sp modelId="{C994FE3C-DEDA-4C9E-95E5-1A3363770FEC}">
      <dsp:nvSpPr>
        <dsp:cNvPr id="0" name=""/>
        <dsp:cNvSpPr/>
      </dsp:nvSpPr>
      <dsp:spPr>
        <a:xfrm>
          <a:off x="3752236" y="1106"/>
          <a:ext cx="2401527" cy="144091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Bahnschrift SemiBold Condensed" panose="020B0502040204020203" pitchFamily="34" charset="0"/>
            </a:rPr>
            <a:t>Total Customers:200</a:t>
          </a:r>
        </a:p>
      </dsp:txBody>
      <dsp:txXfrm>
        <a:off x="3752236" y="1106"/>
        <a:ext cx="2401527" cy="1440916"/>
      </dsp:txXfrm>
    </dsp:sp>
    <dsp:sp modelId="{CCA828B3-0789-4CBE-B322-39700D460629}">
      <dsp:nvSpPr>
        <dsp:cNvPr id="0" name=""/>
        <dsp:cNvSpPr/>
      </dsp:nvSpPr>
      <dsp:spPr>
        <a:xfrm>
          <a:off x="6393916" y="1106"/>
          <a:ext cx="2401527" cy="144091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Bahnschrift SemiBold Condensed" panose="020B0502040204020203" pitchFamily="34" charset="0"/>
            </a:rPr>
            <a:t>Total Quantities Sold:1132</a:t>
          </a:r>
        </a:p>
      </dsp:txBody>
      <dsp:txXfrm>
        <a:off x="6393916" y="1106"/>
        <a:ext cx="2401527" cy="1440916"/>
      </dsp:txXfrm>
    </dsp:sp>
    <dsp:sp modelId="{A7CFC0A2-9ECE-4F82-8C5A-336DF31CC867}">
      <dsp:nvSpPr>
        <dsp:cNvPr id="0" name=""/>
        <dsp:cNvSpPr/>
      </dsp:nvSpPr>
      <dsp:spPr>
        <a:xfrm>
          <a:off x="2431395" y="1682176"/>
          <a:ext cx="2401527" cy="144091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Bahnschrift SemiBold Condensed" panose="020B0502040204020203" pitchFamily="34" charset="0"/>
            </a:rPr>
            <a:t>Surplus</a:t>
          </a:r>
        </a:p>
      </dsp:txBody>
      <dsp:txXfrm>
        <a:off x="2431395" y="1682176"/>
        <a:ext cx="2401527" cy="1440916"/>
      </dsp:txXfrm>
    </dsp:sp>
    <dsp:sp modelId="{AD5FF042-E91A-495A-B2B6-E13B5ECC6663}">
      <dsp:nvSpPr>
        <dsp:cNvPr id="0" name=""/>
        <dsp:cNvSpPr/>
      </dsp:nvSpPr>
      <dsp:spPr>
        <a:xfrm>
          <a:off x="5073076" y="1682176"/>
          <a:ext cx="2401527" cy="144091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Bahnschrift SemiBold Condensed" panose="020B0502040204020203" pitchFamily="34" charset="0"/>
            </a:rPr>
            <a:t>Types of products:22</a:t>
          </a:r>
        </a:p>
      </dsp:txBody>
      <dsp:txXfrm>
        <a:off x="5073076" y="1682176"/>
        <a:ext cx="2401527" cy="144091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950769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30904231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89969765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5757374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4380515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31325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30505812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25570233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8F6623E0-C08B-43F6-AA80-0FF0045052BC}" type="datetimeFigureOut">
              <a:rPr lang="en-US" smtClean="0"/>
              <a:t>8/16/2026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7179265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20845697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28327731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8625778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26857833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4680248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31691946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10495653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7603341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6623E0-C08B-43F6-AA80-0FF0045052BC}" type="datetimeFigureOut">
              <a:rPr lang="en-US" smtClean="0"/>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74BF5D-3519-4201-926C-3C58C99D3B89}" type="slidenum">
              <a:rPr lang="en-US" smtClean="0"/>
              <a:t>‹#›</a:t>
            </a:fld>
            <a:endParaRPr lang="en-US" dirty="0"/>
          </a:p>
        </p:txBody>
      </p:sp>
    </p:spTree>
    <p:extLst>
      <p:ext uri="{BB962C8B-B14F-4D97-AF65-F5344CB8AC3E}">
        <p14:creationId xmlns:p14="http://schemas.microsoft.com/office/powerpoint/2010/main" val="656435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8F6623E0-C08B-43F6-AA80-0FF0045052BC}" type="datetimeFigureOut">
              <a:rPr lang="en-US" smtClean="0"/>
              <a:t>8/16/2026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974BF5D-3519-4201-926C-3C58C99D3B89}" type="slidenum">
              <a:rPr lang="en-US" smtClean="0"/>
              <a:t>‹#›</a:t>
            </a:fld>
            <a:endParaRPr lang="en-US" dirty="0"/>
          </a:p>
        </p:txBody>
      </p:sp>
    </p:spTree>
    <p:extLst>
      <p:ext uri="{BB962C8B-B14F-4D97-AF65-F5344CB8AC3E}">
        <p14:creationId xmlns:p14="http://schemas.microsoft.com/office/powerpoint/2010/main" val="3629813568"/>
      </p:ext>
    </p:extLst>
  </p:cSld>
  <p:clrMap bg1="dk1" tx1="lt1" bg2="dk2" tx2="lt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 id="2147484025" r:id="rId16"/>
    <p:sldLayoutId id="2147484026" r:id="rId17"/>
    <p:sldLayoutId id="2147484027" r:id="rId18"/>
  </p:sldLayoutIdLst>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C1BBDD-153B-4D97-1468-5BC3DBFF7F4A}"/>
              </a:ext>
            </a:extLst>
          </p:cNvPr>
          <p:cNvSpPr>
            <a:spLocks noGrp="1"/>
          </p:cNvSpPr>
          <p:nvPr>
            <p:ph type="title"/>
          </p:nvPr>
        </p:nvSpPr>
        <p:spPr/>
        <p:txBody>
          <a:bodyPr>
            <a:normAutofit fontScale="90000"/>
          </a:bodyPr>
          <a:lstStyle/>
          <a:p>
            <a:r>
              <a:rPr lang="en-US" dirty="0"/>
              <a:t>E-Commerce Sales and Customer Performance Analysis</a:t>
            </a:r>
          </a:p>
        </p:txBody>
      </p:sp>
      <p:sp>
        <p:nvSpPr>
          <p:cNvPr id="6" name="Text Placeholder 5">
            <a:extLst>
              <a:ext uri="{FF2B5EF4-FFF2-40B4-BE49-F238E27FC236}">
                <a16:creationId xmlns:a16="http://schemas.microsoft.com/office/drawing/2014/main" id="{C6CE765F-681E-3776-04DE-DC56067355A6}"/>
              </a:ext>
            </a:extLst>
          </p:cNvPr>
          <p:cNvSpPr>
            <a:spLocks noGrp="1"/>
          </p:cNvSpPr>
          <p:nvPr>
            <p:ph type="body" sz="half" idx="2"/>
          </p:nvPr>
        </p:nvSpPr>
        <p:spPr/>
        <p:txBody>
          <a:bodyPr/>
          <a:lstStyle/>
          <a:p>
            <a:r>
              <a:rPr lang="en-US" dirty="0"/>
              <a:t>Prepared by Krishiv Khatri</a:t>
            </a:r>
          </a:p>
          <a:p>
            <a:r>
              <a:rPr lang="en-US" dirty="0"/>
              <a:t>Tools Used: Microsoft Excel</a:t>
            </a:r>
          </a:p>
          <a:p>
            <a:r>
              <a:rPr lang="en-US" dirty="0"/>
              <a:t>Dataset: 200 confirmed Orders</a:t>
            </a:r>
          </a:p>
          <a:p>
            <a:r>
              <a:rPr lang="en-US" dirty="0"/>
              <a:t>Analysis Period: January 2025</a:t>
            </a:r>
          </a:p>
          <a:p>
            <a:endParaRPr lang="en-US" dirty="0"/>
          </a:p>
        </p:txBody>
      </p:sp>
    </p:spTree>
    <p:extLst>
      <p:ext uri="{BB962C8B-B14F-4D97-AF65-F5344CB8AC3E}">
        <p14:creationId xmlns:p14="http://schemas.microsoft.com/office/powerpoint/2010/main" val="33316858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786F02-3A3E-64F6-CC78-FE62F612BE15}"/>
              </a:ext>
            </a:extLst>
          </p:cNvPr>
          <p:cNvSpPr>
            <a:spLocks noGrp="1"/>
          </p:cNvSpPr>
          <p:nvPr>
            <p:ph type="title"/>
          </p:nvPr>
        </p:nvSpPr>
        <p:spPr/>
        <p:txBody>
          <a:bodyPr/>
          <a:lstStyle/>
          <a:p>
            <a:r>
              <a:rPr lang="en-US" dirty="0"/>
              <a:t>Disclaimer!</a:t>
            </a:r>
          </a:p>
        </p:txBody>
      </p:sp>
      <p:sp>
        <p:nvSpPr>
          <p:cNvPr id="4" name="Subtitle 3">
            <a:extLst>
              <a:ext uri="{FF2B5EF4-FFF2-40B4-BE49-F238E27FC236}">
                <a16:creationId xmlns:a16="http://schemas.microsoft.com/office/drawing/2014/main" id="{72CC017E-EACF-6DD4-D91B-9431DD482348}"/>
              </a:ext>
            </a:extLst>
          </p:cNvPr>
          <p:cNvSpPr>
            <a:spLocks noGrp="1"/>
          </p:cNvSpPr>
          <p:nvPr>
            <p:ph idx="1"/>
          </p:nvPr>
        </p:nvSpPr>
        <p:spPr>
          <a:xfrm>
            <a:off x="646112" y="2052918"/>
            <a:ext cx="9861924" cy="4496738"/>
          </a:xfrm>
        </p:spPr>
        <p:txBody>
          <a:bodyPr>
            <a:normAutofit fontScale="62500" lnSpcReduction="20000"/>
          </a:bodyPr>
          <a:lstStyle/>
          <a:p>
            <a:r>
              <a:rPr lang="en-US" b="1" dirty="0"/>
              <a:t>Disclaimer &amp; Data Context</a:t>
            </a:r>
          </a:p>
          <a:p>
            <a:r>
              <a:rPr lang="en-US" dirty="0"/>
              <a:t>This project is entirely fictional and has been created for educational and portfolio purposes. The e-commerce company, customers, products, orders, financial figures, and operational metrics presented in this analysis do not represent any real organization, individual, or commercial transaction. Any resemblance is purely coincidence</a:t>
            </a:r>
          </a:p>
          <a:p>
            <a:r>
              <a:rPr lang="en-US" dirty="0"/>
              <a:t>The dataset was independently designed and simulated to replicate a realistic e-commerce business environment and to demonstrate the practical application of Microsoft Excel for data analysis, visualization, and business intelligence.</a:t>
            </a:r>
          </a:p>
          <a:p>
            <a:r>
              <a:rPr lang="en-US" dirty="0"/>
              <a:t>The project intentionally incorporates a significant proportion of pending orders to simulate a hypothetical logistics and order-fulfilment challenge faced by a newly established e-commerce Startup company. Similarly, the delivery-cost structure represents a fictional business assumption designed to demonstrate the financial trade-offs a startup may face while attempting to recover its initial operating and logistics costs.</a:t>
            </a:r>
          </a:p>
          <a:p>
            <a:r>
              <a:rPr lang="en-US" dirty="0"/>
              <a:t>Therefore, the findings and recommendations presented in this analysis should be interpreted as </a:t>
            </a:r>
            <a:r>
              <a:rPr lang="en-US" b="1" dirty="0"/>
              <a:t>scenario-based analytical insights rather than factual conclusions about an actual business</a:t>
            </a:r>
            <a:r>
              <a:rPr lang="en-US" dirty="0"/>
              <a:t>.</a:t>
            </a:r>
          </a:p>
          <a:p>
            <a:r>
              <a:rPr lang="en-US" dirty="0"/>
              <a:t>Where the available dataset does not contain sufficient information to establish a root cause, potential explanations have been presented as hypotheses requiring further investigation. Additional operational data—such as inventory levels, processing times, warehouse capacity, delivery-partner performance, and geographical delivery information—would be required for a comprehensive root-cause analysis.</a:t>
            </a:r>
          </a:p>
          <a:p>
            <a:r>
              <a:rPr lang="en-US" b="1" dirty="0"/>
              <a:t>All data and business assumptions are fictionalized and intended solely to demonstrate analytical capability.</a:t>
            </a:r>
            <a:endParaRPr lang="en-US" dirty="0"/>
          </a:p>
          <a:p>
            <a:endParaRPr lang="en-US" dirty="0"/>
          </a:p>
        </p:txBody>
      </p:sp>
      <p:pic>
        <p:nvPicPr>
          <p:cNvPr id="6" name="Graphic 5" descr="Warning with solid fill">
            <a:extLst>
              <a:ext uri="{FF2B5EF4-FFF2-40B4-BE49-F238E27FC236}">
                <a16:creationId xmlns:a16="http://schemas.microsoft.com/office/drawing/2014/main" id="{8540EC15-DE3A-ABF9-6758-51BB71147C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57600" y="958055"/>
            <a:ext cx="1552353" cy="914400"/>
          </a:xfrm>
          <a:prstGeom prst="rect">
            <a:avLst/>
          </a:prstGeom>
        </p:spPr>
      </p:pic>
    </p:spTree>
    <p:extLst>
      <p:ext uri="{BB962C8B-B14F-4D97-AF65-F5344CB8AC3E}">
        <p14:creationId xmlns:p14="http://schemas.microsoft.com/office/powerpoint/2010/main" val="21415931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1C76D-BE3C-8CE0-DB8A-A0D428A6072E}"/>
              </a:ext>
            </a:extLst>
          </p:cNvPr>
          <p:cNvSpPr>
            <a:spLocks noGrp="1"/>
          </p:cNvSpPr>
          <p:nvPr>
            <p:ph type="title"/>
          </p:nvPr>
        </p:nvSpPr>
        <p:spPr/>
        <p:txBody>
          <a:bodyPr/>
          <a:lstStyle/>
          <a:p>
            <a:r>
              <a:rPr lang="en-US" dirty="0"/>
              <a:t>Project Objective </a:t>
            </a:r>
          </a:p>
        </p:txBody>
      </p:sp>
      <p:sp>
        <p:nvSpPr>
          <p:cNvPr id="3" name="Content Placeholder 2">
            <a:extLst>
              <a:ext uri="{FF2B5EF4-FFF2-40B4-BE49-F238E27FC236}">
                <a16:creationId xmlns:a16="http://schemas.microsoft.com/office/drawing/2014/main" id="{990AA8AC-1453-594A-5B21-4EDE8A988F2D}"/>
              </a:ext>
            </a:extLst>
          </p:cNvPr>
          <p:cNvSpPr>
            <a:spLocks noGrp="1"/>
          </p:cNvSpPr>
          <p:nvPr>
            <p:ph idx="1"/>
          </p:nvPr>
        </p:nvSpPr>
        <p:spPr/>
        <p:txBody>
          <a:bodyPr>
            <a:normAutofit lnSpcReduction="10000"/>
          </a:bodyPr>
          <a:lstStyle/>
          <a:p>
            <a:r>
              <a:rPr lang="en-US" dirty="0"/>
              <a:t>Primary Objective Of Making this Project is to analyze sales and overall performance of a fictionalized e-commerce startup Company simulated for educational and portfolio purposes . Analyzing the Overall performance of a company Financially and operationally by converting the raw data into useful information using Pivot table, Key performance Indicators(KPIs),Pivot Charts, IF and other features of Microsoft Excel</a:t>
            </a:r>
          </a:p>
          <a:p>
            <a:r>
              <a:rPr lang="en-US" dirty="0"/>
              <a:t> In this project we’ll understand the fictionalized e-commerce startup company VyaaparX current monthly performance financially and operationally</a:t>
            </a:r>
          </a:p>
          <a:p>
            <a:endParaRPr lang="en-US" dirty="0"/>
          </a:p>
        </p:txBody>
      </p:sp>
    </p:spTree>
    <p:extLst>
      <p:ext uri="{BB962C8B-B14F-4D97-AF65-F5344CB8AC3E}">
        <p14:creationId xmlns:p14="http://schemas.microsoft.com/office/powerpoint/2010/main" val="22803050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E8A16-C8FD-03D6-B001-58AAE64B61A6}"/>
              </a:ext>
            </a:extLst>
          </p:cNvPr>
          <p:cNvSpPr>
            <a:spLocks noGrp="1"/>
          </p:cNvSpPr>
          <p:nvPr>
            <p:ph type="title"/>
          </p:nvPr>
        </p:nvSpPr>
        <p:spPr/>
        <p:txBody>
          <a:bodyPr/>
          <a:lstStyle/>
          <a:p>
            <a:r>
              <a:rPr lang="en-US" dirty="0"/>
              <a:t>Dataset Overview</a:t>
            </a:r>
          </a:p>
        </p:txBody>
      </p:sp>
      <p:graphicFrame>
        <p:nvGraphicFramePr>
          <p:cNvPr id="6" name="Content Placeholder 5">
            <a:extLst>
              <a:ext uri="{FF2B5EF4-FFF2-40B4-BE49-F238E27FC236}">
                <a16:creationId xmlns:a16="http://schemas.microsoft.com/office/drawing/2014/main" id="{D3FCC0D8-9873-5A33-F9A4-37A4307F44F6}"/>
              </a:ext>
            </a:extLst>
          </p:cNvPr>
          <p:cNvGraphicFramePr>
            <a:graphicFrameLocks noGrp="1"/>
          </p:cNvGraphicFramePr>
          <p:nvPr>
            <p:ph idx="1"/>
            <p:extLst>
              <p:ext uri="{D42A27DB-BD31-4B8C-83A1-F6EECF244321}">
                <p14:modId xmlns:p14="http://schemas.microsoft.com/office/powerpoint/2010/main" val="4232484820"/>
              </p:ext>
            </p:extLst>
          </p:nvPr>
        </p:nvGraphicFramePr>
        <p:xfrm>
          <a:off x="1141413" y="2667000"/>
          <a:ext cx="99060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31904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093689D-37BB-2DCA-89D9-C26CA080F7B9}"/>
              </a:ext>
            </a:extLst>
          </p:cNvPr>
          <p:cNvSpPr>
            <a:spLocks noGrp="1"/>
          </p:cNvSpPr>
          <p:nvPr>
            <p:ph type="title"/>
          </p:nvPr>
        </p:nvSpPr>
        <p:spPr>
          <a:xfrm>
            <a:off x="1165587" y="287079"/>
            <a:ext cx="8825659" cy="1547037"/>
          </a:xfrm>
        </p:spPr>
        <p:txBody>
          <a:bodyPr>
            <a:normAutofit fontScale="90000"/>
          </a:bodyPr>
          <a:lstStyle/>
          <a:p>
            <a:r>
              <a:rPr lang="en-US" dirty="0"/>
              <a:t>Key Business questions</a:t>
            </a:r>
          </a:p>
        </p:txBody>
      </p:sp>
      <p:sp>
        <p:nvSpPr>
          <p:cNvPr id="14" name="Text Placeholder 13">
            <a:extLst>
              <a:ext uri="{FF2B5EF4-FFF2-40B4-BE49-F238E27FC236}">
                <a16:creationId xmlns:a16="http://schemas.microsoft.com/office/drawing/2014/main" id="{66CEEC2F-0252-198F-3FCD-B2C72F283115}"/>
              </a:ext>
            </a:extLst>
          </p:cNvPr>
          <p:cNvSpPr>
            <a:spLocks noGrp="1"/>
          </p:cNvSpPr>
          <p:nvPr>
            <p:ph type="body" sz="half" idx="2"/>
          </p:nvPr>
        </p:nvSpPr>
        <p:spPr>
          <a:xfrm>
            <a:off x="520995" y="2190307"/>
            <a:ext cx="10271052" cy="3795823"/>
          </a:xfrm>
        </p:spPr>
        <p:txBody>
          <a:bodyPr>
            <a:normAutofit/>
          </a:bodyPr>
          <a:lstStyle/>
          <a:p>
            <a:pPr marL="285750" lvl="0" indent="-285750">
              <a:buFont typeface="Arial" panose="020B0604020202020204" pitchFamily="34" charset="0"/>
              <a:buChar char="•"/>
            </a:pPr>
            <a:r>
              <a:rPr lang="en-US" dirty="0"/>
              <a:t>Which product category generated the highest sales? </a:t>
            </a:r>
          </a:p>
          <a:p>
            <a:pPr marL="285750" lvl="0" indent="-285750">
              <a:buFont typeface="Arial" panose="020B0604020202020204" pitchFamily="34" charset="0"/>
              <a:buChar char="•"/>
            </a:pPr>
            <a:r>
              <a:rPr lang="en-US" dirty="0"/>
              <a:t>Which products were the most popular? </a:t>
            </a:r>
          </a:p>
          <a:p>
            <a:pPr marL="285750" lvl="0" indent="-285750">
              <a:buFont typeface="Arial" panose="020B0604020202020204" pitchFamily="34" charset="0"/>
              <a:buChar char="•"/>
            </a:pPr>
            <a:r>
              <a:rPr lang="en-US" dirty="0"/>
              <a:t>Which customers generated the highest revenue? </a:t>
            </a:r>
          </a:p>
          <a:p>
            <a:pPr marL="285750" lvl="0" indent="-285750">
              <a:buFont typeface="Arial" panose="020B0604020202020204" pitchFamily="34" charset="0"/>
              <a:buChar char="•"/>
            </a:pPr>
            <a:r>
              <a:rPr lang="en-US" dirty="0"/>
              <a:t>Which city/state performed the best? </a:t>
            </a:r>
          </a:p>
          <a:p>
            <a:pPr marL="285750" lvl="0" indent="-285750">
              <a:buFont typeface="Arial" panose="020B0604020202020204" pitchFamily="34" charset="0"/>
              <a:buChar char="•"/>
            </a:pPr>
            <a:r>
              <a:rPr lang="en-US" dirty="0"/>
              <a:t>What was the average order value? </a:t>
            </a:r>
          </a:p>
          <a:p>
            <a:pPr marL="285750" lvl="0" indent="-285750">
              <a:buFont typeface="Arial" panose="020B0604020202020204" pitchFamily="34" charset="0"/>
              <a:buChar char="•"/>
            </a:pPr>
            <a:r>
              <a:rPr lang="en-US" dirty="0"/>
              <a:t>Which payment method was most preferred? </a:t>
            </a:r>
          </a:p>
          <a:p>
            <a:pPr marL="285750" lvl="0" indent="-285750">
              <a:buFont typeface="Arial" panose="020B0604020202020204" pitchFamily="34" charset="0"/>
              <a:buChar char="•"/>
            </a:pPr>
            <a:r>
              <a:rPr lang="en-US" dirty="0"/>
              <a:t>Which product category had the highest profit? </a:t>
            </a:r>
          </a:p>
          <a:p>
            <a:pPr marL="285750" lvl="0" indent="-285750">
              <a:buFont typeface="Arial" panose="020B0604020202020204" pitchFamily="34" charset="0"/>
              <a:buChar char="•"/>
            </a:pPr>
            <a:r>
              <a:rPr lang="en-US" dirty="0"/>
              <a:t>What were the monthly sales ?</a:t>
            </a:r>
          </a:p>
          <a:p>
            <a:pPr marL="285750" lvl="0" indent="-285750">
              <a:buFont typeface="Arial" panose="020B0604020202020204" pitchFamily="34" charset="0"/>
              <a:buChar char="•"/>
            </a:pPr>
            <a:r>
              <a:rPr lang="en-US" dirty="0"/>
              <a:t>How many Orders were delivered and how many were pending ?</a:t>
            </a:r>
          </a:p>
          <a:p>
            <a:pPr lvl="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7735849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1C6C5A-F7AF-F07C-7793-BACBB4B2A4CD}"/>
              </a:ext>
            </a:extLst>
          </p:cNvPr>
          <p:cNvSpPr>
            <a:spLocks noGrp="1"/>
          </p:cNvSpPr>
          <p:nvPr>
            <p:ph type="title"/>
          </p:nvPr>
        </p:nvSpPr>
        <p:spPr/>
        <p:txBody>
          <a:bodyPr/>
          <a:lstStyle/>
          <a:p>
            <a:r>
              <a:rPr lang="en-US" dirty="0"/>
              <a:t>Which product category generated the highest sales? </a:t>
            </a:r>
            <a:br>
              <a:rPr lang="en-US" dirty="0"/>
            </a:br>
            <a:endParaRPr lang="en-US" dirty="0"/>
          </a:p>
        </p:txBody>
      </p:sp>
      <p:sp>
        <p:nvSpPr>
          <p:cNvPr id="5" name="Text Placeholder 4">
            <a:extLst>
              <a:ext uri="{FF2B5EF4-FFF2-40B4-BE49-F238E27FC236}">
                <a16:creationId xmlns:a16="http://schemas.microsoft.com/office/drawing/2014/main" id="{F395472F-D9B9-D1ED-21CA-E81951C70E60}"/>
              </a:ext>
            </a:extLst>
          </p:cNvPr>
          <p:cNvSpPr>
            <a:spLocks noGrp="1"/>
          </p:cNvSpPr>
          <p:nvPr>
            <p:ph type="body" idx="1"/>
          </p:nvPr>
        </p:nvSpPr>
        <p:spPr/>
        <p:txBody>
          <a:bodyPr/>
          <a:lstStyle/>
          <a:p>
            <a:r>
              <a:rPr lang="en-US" dirty="0"/>
              <a:t>Electronics</a:t>
            </a:r>
          </a:p>
        </p:txBody>
      </p:sp>
      <p:sp>
        <p:nvSpPr>
          <p:cNvPr id="6" name="Content Placeholder 5">
            <a:extLst>
              <a:ext uri="{FF2B5EF4-FFF2-40B4-BE49-F238E27FC236}">
                <a16:creationId xmlns:a16="http://schemas.microsoft.com/office/drawing/2014/main" id="{406508C5-2C8B-D51C-D8D3-E5919B50347B}"/>
              </a:ext>
            </a:extLst>
          </p:cNvPr>
          <p:cNvSpPr>
            <a:spLocks noGrp="1"/>
          </p:cNvSpPr>
          <p:nvPr>
            <p:ph sz="half" idx="2"/>
          </p:nvPr>
        </p:nvSpPr>
        <p:spPr/>
        <p:txBody>
          <a:bodyPr/>
          <a:lstStyle/>
          <a:p>
            <a:r>
              <a:rPr lang="en-US" dirty="0"/>
              <a:t>Electronics is the product category with highest sales generation a whopping </a:t>
            </a:r>
            <a:r>
              <a:rPr lang="en-US" b="1" dirty="0">
                <a:effectLst/>
              </a:rPr>
              <a:t>₹7,521,118.46  </a:t>
            </a:r>
            <a:r>
              <a:rPr lang="en-US" dirty="0">
                <a:effectLst/>
              </a:rPr>
              <a:t>in month of January 2026 </a:t>
            </a:r>
          </a:p>
          <a:p>
            <a:r>
              <a:rPr lang="en-US" dirty="0">
                <a:effectLst/>
              </a:rPr>
              <a:t>In the right hand side it is clearly represented through a graph </a:t>
            </a:r>
            <a:r>
              <a:rPr lang="en-US" dirty="0"/>
              <a:t> </a:t>
            </a:r>
          </a:p>
        </p:txBody>
      </p:sp>
      <p:sp>
        <p:nvSpPr>
          <p:cNvPr id="7" name="Text Placeholder 6">
            <a:extLst>
              <a:ext uri="{FF2B5EF4-FFF2-40B4-BE49-F238E27FC236}">
                <a16:creationId xmlns:a16="http://schemas.microsoft.com/office/drawing/2014/main" id="{7E6BAD67-D5E7-0EB2-FE95-56B311394D55}"/>
              </a:ext>
            </a:extLst>
          </p:cNvPr>
          <p:cNvSpPr>
            <a:spLocks noGrp="1"/>
          </p:cNvSpPr>
          <p:nvPr>
            <p:ph type="body" sz="quarter" idx="3"/>
          </p:nvPr>
        </p:nvSpPr>
        <p:spPr/>
        <p:txBody>
          <a:bodyPr/>
          <a:lstStyle/>
          <a:p>
            <a:endParaRPr lang="en-US" dirty="0"/>
          </a:p>
        </p:txBody>
      </p:sp>
      <p:sp>
        <p:nvSpPr>
          <p:cNvPr id="8" name="Content Placeholder 7">
            <a:extLst>
              <a:ext uri="{FF2B5EF4-FFF2-40B4-BE49-F238E27FC236}">
                <a16:creationId xmlns:a16="http://schemas.microsoft.com/office/drawing/2014/main" id="{DC2E4C7A-9B19-1E82-A404-A6A2F8BE9822}"/>
              </a:ext>
            </a:extLst>
          </p:cNvPr>
          <p:cNvSpPr>
            <a:spLocks noGrp="1"/>
          </p:cNvSpPr>
          <p:nvPr>
            <p:ph sz="quarter" idx="4"/>
          </p:nvPr>
        </p:nvSpPr>
        <p:spPr/>
        <p:txBody>
          <a:bodyPr/>
          <a:lstStyle/>
          <a:p>
            <a:pPr marL="0" indent="0">
              <a:buNone/>
            </a:pPr>
            <a:endParaRPr lang="en-US" dirty="0"/>
          </a:p>
        </p:txBody>
      </p:sp>
      <p:graphicFrame>
        <p:nvGraphicFramePr>
          <p:cNvPr id="12" name="Chart 11">
            <a:extLst>
              <a:ext uri="{FF2B5EF4-FFF2-40B4-BE49-F238E27FC236}">
                <a16:creationId xmlns:a16="http://schemas.microsoft.com/office/drawing/2014/main" id="{519E8501-9463-4D0D-5568-FECD011FC5EB}"/>
              </a:ext>
            </a:extLst>
          </p:cNvPr>
          <p:cNvGraphicFramePr>
            <a:graphicFrameLocks/>
          </p:cNvGraphicFramePr>
          <p:nvPr>
            <p:extLst>
              <p:ext uri="{D42A27DB-BD31-4B8C-83A1-F6EECF244321}">
                <p14:modId xmlns:p14="http://schemas.microsoft.com/office/powerpoint/2010/main" val="373054704"/>
              </p:ext>
            </p:extLst>
          </p:nvPr>
        </p:nvGraphicFramePr>
        <p:xfrm>
          <a:off x="6096000" y="2658534"/>
          <a:ext cx="6096000" cy="34020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777141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BE2C2-D3CD-A288-1D74-04E003924C1F}"/>
              </a:ext>
            </a:extLst>
          </p:cNvPr>
          <p:cNvSpPr>
            <a:spLocks noGrp="1"/>
          </p:cNvSpPr>
          <p:nvPr>
            <p:ph type="title"/>
          </p:nvPr>
        </p:nvSpPr>
        <p:spPr/>
        <p:txBody>
          <a:bodyPr/>
          <a:lstStyle/>
          <a:p>
            <a:r>
              <a:rPr lang="en-US" dirty="0"/>
              <a:t>Which product was the most popular</a:t>
            </a:r>
          </a:p>
        </p:txBody>
      </p:sp>
      <p:sp>
        <p:nvSpPr>
          <p:cNvPr id="3" name="Content Placeholder 2">
            <a:extLst>
              <a:ext uri="{FF2B5EF4-FFF2-40B4-BE49-F238E27FC236}">
                <a16:creationId xmlns:a16="http://schemas.microsoft.com/office/drawing/2014/main" id="{81F883C5-5E42-4978-3188-72C3244618E3}"/>
              </a:ext>
            </a:extLst>
          </p:cNvPr>
          <p:cNvSpPr>
            <a:spLocks noGrp="1"/>
          </p:cNvSpPr>
          <p:nvPr>
            <p:ph sz="half" idx="1"/>
          </p:nvPr>
        </p:nvSpPr>
        <p:spPr/>
        <p:txBody>
          <a:bodyPr>
            <a:normAutofit lnSpcReduction="10000"/>
          </a:bodyPr>
          <a:lstStyle/>
          <a:p>
            <a:r>
              <a:rPr lang="en-US" dirty="0"/>
              <a:t>Popularity of a product cannot be merely decided on basis of total number of quantities sold and amount of sales generated by a product because it reflects tangible and recorded assets and information not ground reality </a:t>
            </a:r>
          </a:p>
          <a:p>
            <a:r>
              <a:rPr lang="en-US" dirty="0"/>
              <a:t>However on basis of quantities of goods sold and amount of net sales electronics can be considered as the most popular product</a:t>
            </a:r>
          </a:p>
        </p:txBody>
      </p:sp>
      <p:graphicFrame>
        <p:nvGraphicFramePr>
          <p:cNvPr id="5" name="Content Placeholder 4">
            <a:extLst>
              <a:ext uri="{FF2B5EF4-FFF2-40B4-BE49-F238E27FC236}">
                <a16:creationId xmlns:a16="http://schemas.microsoft.com/office/drawing/2014/main" id="{FA44D476-70DE-84A1-AA3B-DEE28BFA6D1F}"/>
              </a:ext>
            </a:extLst>
          </p:cNvPr>
          <p:cNvGraphicFramePr>
            <a:graphicFrameLocks noGrp="1"/>
          </p:cNvGraphicFramePr>
          <p:nvPr>
            <p:ph sz="half" idx="2"/>
            <p:extLst>
              <p:ext uri="{D42A27DB-BD31-4B8C-83A1-F6EECF244321}">
                <p14:modId xmlns:p14="http://schemas.microsoft.com/office/powerpoint/2010/main" val="616330406"/>
              </p:ext>
            </p:extLst>
          </p:nvPr>
        </p:nvGraphicFramePr>
        <p:xfrm>
          <a:off x="6170613" y="2667000"/>
          <a:ext cx="4876800" cy="3124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317976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FB7E-A914-95AA-85A9-1E3889795AEB}"/>
              </a:ext>
            </a:extLst>
          </p:cNvPr>
          <p:cNvSpPr>
            <a:spLocks noGrp="1"/>
          </p:cNvSpPr>
          <p:nvPr>
            <p:ph type="ctrTitle"/>
          </p:nvPr>
        </p:nvSpPr>
        <p:spPr/>
        <p:txBody>
          <a:bodyPr/>
          <a:lstStyle/>
          <a:p>
            <a:r>
              <a:rPr lang="en-US" dirty="0"/>
              <a:t>Which customer Generated the highest revenue</a:t>
            </a:r>
          </a:p>
        </p:txBody>
      </p:sp>
      <p:sp>
        <p:nvSpPr>
          <p:cNvPr id="3" name="Subtitle 2">
            <a:extLst>
              <a:ext uri="{FF2B5EF4-FFF2-40B4-BE49-F238E27FC236}">
                <a16:creationId xmlns:a16="http://schemas.microsoft.com/office/drawing/2014/main" id="{95A979C7-16F4-5AB2-F881-E010356FA100}"/>
              </a:ext>
            </a:extLst>
          </p:cNvPr>
          <p:cNvSpPr>
            <a:spLocks noGrp="1"/>
          </p:cNvSpPr>
          <p:nvPr>
            <p:ph type="subTitle" idx="1"/>
          </p:nvPr>
        </p:nvSpPr>
        <p:spPr/>
        <p:txBody>
          <a:bodyPr/>
          <a:lstStyle/>
          <a:p>
            <a:r>
              <a:rPr lang="en-US" dirty="0"/>
              <a:t>Rahul Arora generated the highest revenue by purchasing 22 quantities of </a:t>
            </a:r>
            <a:r>
              <a:rPr lang="fr-FR" dirty="0"/>
              <a:t>Voltas 1.5 ton 3 star Air Conditionner </a:t>
            </a:r>
            <a:r>
              <a:rPr lang="en-US" dirty="0"/>
              <a:t>at net sales of 632,500 and method of payment was Buy Now Pay Later scheme contributing to surplus of 82500 currently his order status is pending</a:t>
            </a:r>
          </a:p>
        </p:txBody>
      </p:sp>
    </p:spTree>
    <p:extLst>
      <p:ext uri="{BB962C8B-B14F-4D97-AF65-F5344CB8AC3E}">
        <p14:creationId xmlns:p14="http://schemas.microsoft.com/office/powerpoint/2010/main" val="8508471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06BB-5D73-99BD-1FFB-C1206D36C4D8}"/>
              </a:ext>
            </a:extLst>
          </p:cNvPr>
          <p:cNvSpPr>
            <a:spLocks noGrp="1"/>
          </p:cNvSpPr>
          <p:nvPr>
            <p:ph type="title"/>
          </p:nvPr>
        </p:nvSpPr>
        <p:spPr/>
        <p:txBody>
          <a:bodyPr/>
          <a:lstStyle/>
          <a:p>
            <a:r>
              <a:rPr lang="en-US" dirty="0"/>
              <a:t>Which city/State performed the best </a:t>
            </a:r>
          </a:p>
        </p:txBody>
      </p:sp>
      <p:graphicFrame>
        <p:nvGraphicFramePr>
          <p:cNvPr id="6" name="Content Placeholder 5">
            <a:extLst>
              <a:ext uri="{FF2B5EF4-FFF2-40B4-BE49-F238E27FC236}">
                <a16:creationId xmlns:a16="http://schemas.microsoft.com/office/drawing/2014/main" id="{40BDC8D2-5234-2893-7F8C-3A91205D1A04}"/>
              </a:ext>
            </a:extLst>
          </p:cNvPr>
          <p:cNvGraphicFramePr>
            <a:graphicFrameLocks noGrp="1"/>
          </p:cNvGraphicFramePr>
          <p:nvPr>
            <p:ph idx="1"/>
            <p:extLst>
              <p:ext uri="{D42A27DB-BD31-4B8C-83A1-F6EECF244321}">
                <p14:modId xmlns:p14="http://schemas.microsoft.com/office/powerpoint/2010/main" val="3759445899"/>
              </p:ext>
            </p:extLst>
          </p:nvPr>
        </p:nvGraphicFramePr>
        <p:xfrm>
          <a:off x="5103813" y="609600"/>
          <a:ext cx="59436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6CC6A44A-AE50-4166-E915-8CC2496257EF}"/>
              </a:ext>
            </a:extLst>
          </p:cNvPr>
          <p:cNvSpPr>
            <a:spLocks noGrp="1"/>
          </p:cNvSpPr>
          <p:nvPr>
            <p:ph type="body" sz="half" idx="2"/>
          </p:nvPr>
        </p:nvSpPr>
        <p:spPr/>
        <p:txBody>
          <a:bodyPr/>
          <a:lstStyle/>
          <a:p>
            <a:r>
              <a:rPr lang="en-US" dirty="0"/>
              <a:t>Gurugram, Haryana</a:t>
            </a:r>
          </a:p>
        </p:txBody>
      </p:sp>
    </p:spTree>
    <p:extLst>
      <p:ext uri="{BB962C8B-B14F-4D97-AF65-F5344CB8AC3E}">
        <p14:creationId xmlns:p14="http://schemas.microsoft.com/office/powerpoint/2010/main" val="22914998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7BB9-2753-2AAF-E5CF-85CEF72A0F6F}"/>
              </a:ext>
            </a:extLst>
          </p:cNvPr>
          <p:cNvSpPr>
            <a:spLocks noGrp="1"/>
          </p:cNvSpPr>
          <p:nvPr>
            <p:ph type="ctrTitle"/>
          </p:nvPr>
        </p:nvSpPr>
        <p:spPr/>
        <p:txBody>
          <a:bodyPr/>
          <a:lstStyle/>
          <a:p>
            <a:r>
              <a:rPr lang="en-US" dirty="0"/>
              <a:t>What was AVERAGE ORDER VALUE</a:t>
            </a:r>
          </a:p>
        </p:txBody>
      </p:sp>
      <p:sp>
        <p:nvSpPr>
          <p:cNvPr id="3" name="Subtitle 2">
            <a:extLst>
              <a:ext uri="{FF2B5EF4-FFF2-40B4-BE49-F238E27FC236}">
                <a16:creationId xmlns:a16="http://schemas.microsoft.com/office/drawing/2014/main" id="{1BC5F331-C351-21B1-837E-9626951892FA}"/>
              </a:ext>
            </a:extLst>
          </p:cNvPr>
          <p:cNvSpPr>
            <a:spLocks noGrp="1"/>
          </p:cNvSpPr>
          <p:nvPr>
            <p:ph type="subTitle" idx="1"/>
          </p:nvPr>
        </p:nvSpPr>
        <p:spPr/>
        <p:txBody>
          <a:bodyPr>
            <a:normAutofit fontScale="92500" lnSpcReduction="10000"/>
          </a:bodyPr>
          <a:lstStyle/>
          <a:p>
            <a:r>
              <a:rPr lang="en-US" dirty="0">
                <a:effectLst/>
              </a:rPr>
              <a:t>Average Order Value (AOV) tracks the average amount of money spent each time a customer places an order on a website or mobile app. It is calculated by dividing total revenue by the total number of orders. AOV helps businesses evaluate pricing strategies, customer behavior, and marketing effectiveness. AOV by end of January for this startup firm was </a:t>
            </a:r>
            <a:fld id="{BF27E166-9C3D-4955-847A-57913919C60E}" type="TxLink">
              <a:rPr lang="en-US" sz="2400" smtClean="0">
                <a:solidFill>
                  <a:schemeClr val="tx1"/>
                </a:solidFill>
                <a:latin typeface="Bahnschrift SemiBold Condensed" panose="020B0502040204020203" pitchFamily="34" charset="0"/>
                <a:cs typeface="Calibri"/>
              </a:rPr>
              <a:pPr/>
              <a:t> ₹ 18,845.64 </a:t>
            </a:fld>
            <a:endParaRPr lang="en-US" sz="2400" dirty="0">
              <a:solidFill>
                <a:schemeClr val="tx1"/>
              </a:solidFill>
              <a:latin typeface="Bahnschrift SemiBold Condensed" panose="020B0502040204020203" pitchFamily="34" charset="0"/>
            </a:endParaRPr>
          </a:p>
          <a:p>
            <a:endParaRPr lang="en-US" dirty="0"/>
          </a:p>
        </p:txBody>
      </p:sp>
    </p:spTree>
    <p:extLst>
      <p:ext uri="{BB962C8B-B14F-4D97-AF65-F5344CB8AC3E}">
        <p14:creationId xmlns:p14="http://schemas.microsoft.com/office/powerpoint/2010/main" val="31915273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647E-FDA1-56E4-F930-117DA0D690A1}"/>
              </a:ext>
            </a:extLst>
          </p:cNvPr>
          <p:cNvSpPr>
            <a:spLocks noGrp="1"/>
          </p:cNvSpPr>
          <p:nvPr>
            <p:ph type="title"/>
          </p:nvPr>
        </p:nvSpPr>
        <p:spPr/>
        <p:txBody>
          <a:bodyPr>
            <a:normAutofit fontScale="90000"/>
          </a:bodyPr>
          <a:lstStyle/>
          <a:p>
            <a:r>
              <a:rPr lang="en-US" dirty="0"/>
              <a:t>Which payment method was most preferred? </a:t>
            </a:r>
            <a:br>
              <a:rPr lang="en-US" dirty="0"/>
            </a:br>
            <a:endParaRPr lang="en-US" dirty="0"/>
          </a:p>
        </p:txBody>
      </p:sp>
      <p:graphicFrame>
        <p:nvGraphicFramePr>
          <p:cNvPr id="5" name="Content Placeholder 4">
            <a:extLst>
              <a:ext uri="{FF2B5EF4-FFF2-40B4-BE49-F238E27FC236}">
                <a16:creationId xmlns:a16="http://schemas.microsoft.com/office/drawing/2014/main" id="{C48C067D-581C-73B4-EE19-ACE5F66148B6}"/>
              </a:ext>
            </a:extLst>
          </p:cNvPr>
          <p:cNvGraphicFramePr>
            <a:graphicFrameLocks noGrp="1"/>
          </p:cNvGraphicFramePr>
          <p:nvPr>
            <p:ph idx="1"/>
            <p:extLst>
              <p:ext uri="{D42A27DB-BD31-4B8C-83A1-F6EECF244321}">
                <p14:modId xmlns:p14="http://schemas.microsoft.com/office/powerpoint/2010/main" val="3867334350"/>
              </p:ext>
            </p:extLst>
          </p:nvPr>
        </p:nvGraphicFramePr>
        <p:xfrm>
          <a:off x="5103813" y="609600"/>
          <a:ext cx="59436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44F488DD-C2E2-B6D2-C73B-7836C2DDE0B7}"/>
              </a:ext>
            </a:extLst>
          </p:cNvPr>
          <p:cNvSpPr>
            <a:spLocks noGrp="1"/>
          </p:cNvSpPr>
          <p:nvPr>
            <p:ph type="body" sz="half" idx="2"/>
          </p:nvPr>
        </p:nvSpPr>
        <p:spPr>
          <a:xfrm>
            <a:off x="457201" y="2971799"/>
            <a:ext cx="4233332" cy="3545959"/>
          </a:xfrm>
        </p:spPr>
        <p:txBody>
          <a:bodyPr>
            <a:normAutofit/>
          </a:bodyPr>
          <a:lstStyle/>
          <a:p>
            <a:r>
              <a:rPr lang="en-US" dirty="0"/>
              <a:t>As per the statistics I analyzed from Raw data in excel It was revealed that the most preferred and used method of payment is EMI as per the quantities of customer paid followed by Credit Card then Cash on Delivery then UPI then Buy Now pay later and eventually at last no cost EMI</a:t>
            </a:r>
          </a:p>
          <a:p>
            <a:endParaRPr lang="en-US" dirty="0"/>
          </a:p>
        </p:txBody>
      </p:sp>
    </p:spTree>
    <p:extLst>
      <p:ext uri="{BB962C8B-B14F-4D97-AF65-F5344CB8AC3E}">
        <p14:creationId xmlns:p14="http://schemas.microsoft.com/office/powerpoint/2010/main" val="19723661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7F9F6-113F-F7DA-15F3-27AB7D08551F}"/>
              </a:ext>
            </a:extLst>
          </p:cNvPr>
          <p:cNvSpPr>
            <a:spLocks noGrp="1"/>
          </p:cNvSpPr>
          <p:nvPr>
            <p:ph type="title"/>
          </p:nvPr>
        </p:nvSpPr>
        <p:spPr/>
        <p:txBody>
          <a:bodyPr/>
          <a:lstStyle/>
          <a:p>
            <a:r>
              <a:rPr lang="en-US" dirty="0"/>
              <a:t>Which Product category had the highest SURPLUS? </a:t>
            </a:r>
            <a:br>
              <a:rPr lang="en-US" dirty="0"/>
            </a:br>
            <a:endParaRPr lang="en-US" dirty="0"/>
          </a:p>
        </p:txBody>
      </p:sp>
      <p:sp>
        <p:nvSpPr>
          <p:cNvPr id="3" name="Content Placeholder 2">
            <a:extLst>
              <a:ext uri="{FF2B5EF4-FFF2-40B4-BE49-F238E27FC236}">
                <a16:creationId xmlns:a16="http://schemas.microsoft.com/office/drawing/2014/main" id="{CAFF2D75-624E-8828-A78F-A58F8EF01776}"/>
              </a:ext>
            </a:extLst>
          </p:cNvPr>
          <p:cNvSpPr>
            <a:spLocks noGrp="1"/>
          </p:cNvSpPr>
          <p:nvPr>
            <p:ph sz="half" idx="1"/>
          </p:nvPr>
        </p:nvSpPr>
        <p:spPr/>
        <p:txBody>
          <a:bodyPr/>
          <a:lstStyle/>
          <a:p>
            <a:r>
              <a:rPr lang="en-US" dirty="0"/>
              <a:t>Electronics is the product category with the highest surplus after analyzing the data I’ve made this conclusion net surplus of electronics for the month of January  is </a:t>
            </a:r>
            <a:r>
              <a:rPr lang="en-US" dirty="0">
                <a:solidFill>
                  <a:srgbClr val="000000"/>
                </a:solidFill>
                <a:effectLst/>
                <a:latin typeface="Calibri" panose="020F0502020204030204" pitchFamily="34" charset="0"/>
              </a:rPr>
              <a:t> </a:t>
            </a:r>
            <a:r>
              <a:rPr lang="en-US" dirty="0">
                <a:solidFill>
                  <a:schemeClr val="tx1"/>
                </a:solidFill>
                <a:effectLst/>
                <a:latin typeface="Calibri" panose="020F0502020204030204" pitchFamily="34" charset="0"/>
              </a:rPr>
              <a:t>₹  1,926,843.20 </a:t>
            </a:r>
            <a:endParaRPr lang="en-US" dirty="0">
              <a:solidFill>
                <a:schemeClr val="tx1"/>
              </a:solidFill>
            </a:endParaRPr>
          </a:p>
        </p:txBody>
      </p:sp>
      <p:graphicFrame>
        <p:nvGraphicFramePr>
          <p:cNvPr id="5" name="Content Placeholder 4">
            <a:extLst>
              <a:ext uri="{FF2B5EF4-FFF2-40B4-BE49-F238E27FC236}">
                <a16:creationId xmlns:a16="http://schemas.microsoft.com/office/drawing/2014/main" id="{990B4B17-D4CD-4E13-9552-944A403D9E4D}"/>
              </a:ext>
            </a:extLst>
          </p:cNvPr>
          <p:cNvGraphicFramePr>
            <a:graphicFrameLocks noGrp="1"/>
          </p:cNvGraphicFramePr>
          <p:nvPr>
            <p:ph sz="half" idx="2"/>
            <p:extLst>
              <p:ext uri="{D42A27DB-BD31-4B8C-83A1-F6EECF244321}">
                <p14:modId xmlns:p14="http://schemas.microsoft.com/office/powerpoint/2010/main" val="634554385"/>
              </p:ext>
            </p:extLst>
          </p:nvPr>
        </p:nvGraphicFramePr>
        <p:xfrm>
          <a:off x="6173790" y="2167270"/>
          <a:ext cx="5830368" cy="43823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458436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FD358F-11D8-8531-0DD9-DB6448A5FD91}"/>
              </a:ext>
            </a:extLst>
          </p:cNvPr>
          <p:cNvSpPr>
            <a:spLocks noGrp="1"/>
          </p:cNvSpPr>
          <p:nvPr>
            <p:ph type="title"/>
          </p:nvPr>
        </p:nvSpPr>
        <p:spPr/>
        <p:txBody>
          <a:bodyPr/>
          <a:lstStyle/>
          <a:p>
            <a:r>
              <a:rPr lang="en-US" dirty="0"/>
              <a:t>What were the monthly Sales </a:t>
            </a:r>
          </a:p>
        </p:txBody>
      </p:sp>
      <p:sp>
        <p:nvSpPr>
          <p:cNvPr id="5" name="Content Placeholder 4">
            <a:extLst>
              <a:ext uri="{FF2B5EF4-FFF2-40B4-BE49-F238E27FC236}">
                <a16:creationId xmlns:a16="http://schemas.microsoft.com/office/drawing/2014/main" id="{966477BC-2FEC-DC70-C986-2B21C568DED5}"/>
              </a:ext>
            </a:extLst>
          </p:cNvPr>
          <p:cNvSpPr>
            <a:spLocks noGrp="1"/>
          </p:cNvSpPr>
          <p:nvPr>
            <p:ph idx="1"/>
          </p:nvPr>
        </p:nvSpPr>
        <p:spPr/>
        <p:txBody>
          <a:bodyPr/>
          <a:lstStyle/>
          <a:p>
            <a:r>
              <a:rPr lang="en-US" dirty="0">
                <a:latin typeface="Bahnschrift SemiBold Condensed" panose="020B0502040204020203" pitchFamily="34" charset="0"/>
                <a:cs typeface="Calibri"/>
              </a:rPr>
              <a:t>Monthly Net Sales by end of month of January were</a:t>
            </a:r>
            <a:fld id="{2FD998ED-5BF2-448E-8D86-479D25ABD737}" type="TxLink">
              <a:rPr lang="en-US" smtClean="0">
                <a:latin typeface="Bahnschrift SemiBold Condensed" panose="020B0502040204020203" pitchFamily="34" charset="0"/>
                <a:cs typeface="Calibri"/>
              </a:rPr>
              <a:pPr/>
              <a:t> ₹ 21,333,268.80 </a:t>
            </a:fld>
            <a:r>
              <a:rPr lang="en-US" dirty="0">
                <a:latin typeface="Bahnschrift SemiBold Condensed" panose="020B0502040204020203" pitchFamily="34" charset="0"/>
                <a:cs typeface="Calibri"/>
              </a:rPr>
              <a:t> out of which net sales of delivered orders were </a:t>
            </a:r>
            <a:r>
              <a:rPr lang="en-US" b="1" dirty="0">
                <a:solidFill>
                  <a:srgbClr val="000000"/>
                </a:solidFill>
                <a:effectLst/>
                <a:latin typeface="Calibri" panose="020F0502020204030204" pitchFamily="34" charset="0"/>
              </a:rPr>
              <a:t> </a:t>
            </a:r>
            <a:r>
              <a:rPr lang="en-US" b="1" dirty="0">
                <a:effectLst/>
                <a:latin typeface="Calibri" panose="020F0502020204030204" pitchFamily="34" charset="0"/>
              </a:rPr>
              <a:t>₹    4,509,185.10  and net sales of pending orders were  ₹  16,824,083.70 which is a huge serious long term implication for the startup company VyaaparX</a:t>
            </a:r>
            <a:endParaRPr lang="en-US" b="1" dirty="0">
              <a:latin typeface="Bahnschrift SemiBold Condensed" panose="020B0502040204020203" pitchFamily="34" charset="0"/>
            </a:endParaRPr>
          </a:p>
          <a:p>
            <a:endParaRPr lang="en-US" dirty="0"/>
          </a:p>
        </p:txBody>
      </p:sp>
    </p:spTree>
    <p:extLst>
      <p:ext uri="{BB962C8B-B14F-4D97-AF65-F5344CB8AC3E}">
        <p14:creationId xmlns:p14="http://schemas.microsoft.com/office/powerpoint/2010/main" val="31134854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D62BF-CFDB-462D-1623-775EAEA01119}"/>
              </a:ext>
            </a:extLst>
          </p:cNvPr>
          <p:cNvSpPr>
            <a:spLocks noGrp="1"/>
          </p:cNvSpPr>
          <p:nvPr>
            <p:ph type="title"/>
          </p:nvPr>
        </p:nvSpPr>
        <p:spPr>
          <a:xfrm>
            <a:off x="1141411" y="1020726"/>
            <a:ext cx="3549121" cy="1951074"/>
          </a:xfrm>
        </p:spPr>
        <p:txBody>
          <a:bodyPr>
            <a:normAutofit/>
          </a:bodyPr>
          <a:lstStyle/>
          <a:p>
            <a:r>
              <a:rPr lang="en-US" dirty="0"/>
              <a:t>How many Orders were delivered and how many were pending ?</a:t>
            </a:r>
            <a:br>
              <a:rPr lang="en-US" dirty="0"/>
            </a:br>
            <a:endParaRPr lang="en-US" dirty="0"/>
          </a:p>
        </p:txBody>
      </p:sp>
      <p:sp>
        <p:nvSpPr>
          <p:cNvPr id="4" name="Text Placeholder 3">
            <a:extLst>
              <a:ext uri="{FF2B5EF4-FFF2-40B4-BE49-F238E27FC236}">
                <a16:creationId xmlns:a16="http://schemas.microsoft.com/office/drawing/2014/main" id="{77A0D9B7-49F7-E0CB-C74C-B4836EE29E16}"/>
              </a:ext>
            </a:extLst>
          </p:cNvPr>
          <p:cNvSpPr>
            <a:spLocks noGrp="1"/>
          </p:cNvSpPr>
          <p:nvPr>
            <p:ph type="body" sz="half" idx="2"/>
          </p:nvPr>
        </p:nvSpPr>
        <p:spPr>
          <a:xfrm>
            <a:off x="350875" y="2971800"/>
            <a:ext cx="4339658" cy="3588488"/>
          </a:xfrm>
        </p:spPr>
        <p:txBody>
          <a:bodyPr>
            <a:normAutofit fontScale="92500"/>
          </a:bodyPr>
          <a:lstStyle/>
          <a:p>
            <a:pPr marL="285750" indent="-285750">
              <a:buFont typeface="Arial" panose="020B0604020202020204" pitchFamily="34" charset="0"/>
              <a:buChar char="•"/>
            </a:pPr>
            <a:r>
              <a:rPr lang="en-US" dirty="0"/>
              <a:t>Out of sample space of 200 orders 139 orders were pending and only 61 were delivered operational rate of success of delivering the orders is only 30.5% . In Simpler terms out of every 10 orders only 3 orders are getting delivered</a:t>
            </a:r>
          </a:p>
          <a:p>
            <a:pPr marL="285750" indent="-285750">
              <a:buFont typeface="Arial" panose="020B0604020202020204" pitchFamily="34" charset="0"/>
              <a:buChar char="•"/>
            </a:pPr>
            <a:r>
              <a:rPr lang="en-US" dirty="0"/>
              <a:t> Of the total net sales value of ₹21.33 million, ₹16.82 million (78.86%) is associated with pending orders, while only ₹4.51 million (21.14%) corresponds to delivered orders. This indicates a significant order-fulfilment backlog and represents a major operational concern for the company.</a:t>
            </a:r>
          </a:p>
        </p:txBody>
      </p:sp>
      <p:graphicFrame>
        <p:nvGraphicFramePr>
          <p:cNvPr id="5" name="Content Placeholder 4">
            <a:extLst>
              <a:ext uri="{FF2B5EF4-FFF2-40B4-BE49-F238E27FC236}">
                <a16:creationId xmlns:a16="http://schemas.microsoft.com/office/drawing/2014/main" id="{79DCBF05-AA43-509C-7EE8-1D871F8C13F3}"/>
              </a:ext>
            </a:extLst>
          </p:cNvPr>
          <p:cNvGraphicFramePr>
            <a:graphicFrameLocks noGrp="1"/>
          </p:cNvGraphicFramePr>
          <p:nvPr>
            <p:ph idx="1"/>
            <p:extLst>
              <p:ext uri="{D42A27DB-BD31-4B8C-83A1-F6EECF244321}">
                <p14:modId xmlns:p14="http://schemas.microsoft.com/office/powerpoint/2010/main" val="4010366534"/>
              </p:ext>
            </p:extLst>
          </p:nvPr>
        </p:nvGraphicFramePr>
        <p:xfrm>
          <a:off x="5103813" y="609600"/>
          <a:ext cx="5943600" cy="5181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27169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85B12-8EF0-F234-BB9B-587264E496FB}"/>
              </a:ext>
            </a:extLst>
          </p:cNvPr>
          <p:cNvSpPr>
            <a:spLocks noGrp="1"/>
          </p:cNvSpPr>
          <p:nvPr>
            <p:ph type="ctrTitle"/>
          </p:nvPr>
        </p:nvSpPr>
        <p:spPr>
          <a:xfrm>
            <a:off x="1751012" y="609601"/>
            <a:ext cx="8676222" cy="2362199"/>
          </a:xfrm>
        </p:spPr>
        <p:txBody>
          <a:bodyPr/>
          <a:lstStyle/>
          <a:p>
            <a:r>
              <a:rPr lang="en-US" dirty="0"/>
              <a:t>Final conclusion</a:t>
            </a:r>
          </a:p>
        </p:txBody>
      </p:sp>
      <p:sp>
        <p:nvSpPr>
          <p:cNvPr id="3" name="Subtitle 2">
            <a:extLst>
              <a:ext uri="{FF2B5EF4-FFF2-40B4-BE49-F238E27FC236}">
                <a16:creationId xmlns:a16="http://schemas.microsoft.com/office/drawing/2014/main" id="{249D992F-8A46-8B3B-6310-F8F1C7B1549F}"/>
              </a:ext>
            </a:extLst>
          </p:cNvPr>
          <p:cNvSpPr>
            <a:spLocks noGrp="1"/>
          </p:cNvSpPr>
          <p:nvPr>
            <p:ph type="subTitle" idx="1"/>
          </p:nvPr>
        </p:nvSpPr>
        <p:spPr>
          <a:xfrm>
            <a:off x="0" y="3104707"/>
            <a:ext cx="11982893" cy="3551274"/>
          </a:xfrm>
        </p:spPr>
        <p:txBody>
          <a:bodyPr>
            <a:normAutofit fontScale="70000" lnSpcReduction="20000"/>
          </a:bodyPr>
          <a:lstStyle/>
          <a:p>
            <a:r>
              <a:rPr lang="en-US" dirty="0" err="1"/>
              <a:t>VyaaparX</a:t>
            </a:r>
            <a:r>
              <a:rPr lang="en-US" dirty="0"/>
              <a:t> e-commerce firm demonstrates </a:t>
            </a:r>
            <a:r>
              <a:rPr lang="en-US" b="1" dirty="0"/>
              <a:t>strong financial performance</a:t>
            </a:r>
            <a:r>
              <a:rPr lang="en-US" dirty="0"/>
              <a:t>, generating substantial net sales of </a:t>
            </a:r>
            <a:r>
              <a:rPr lang="en-US" b="1" dirty="0"/>
              <a:t>₹21.33 million</a:t>
            </a:r>
            <a:r>
              <a:rPr lang="en-US" dirty="0"/>
              <a:t> along with a significant surplus. These figures indicate strong customer demand and suggest that the business has been successful in generating considerable commercial value during its initial operations.</a:t>
            </a:r>
          </a:p>
          <a:p>
            <a:r>
              <a:rPr lang="en-US" dirty="0"/>
              <a:t>However, the financial performance is accompanied by a </a:t>
            </a:r>
            <a:r>
              <a:rPr lang="en-US" b="1" dirty="0"/>
              <a:t>major operational challenge</a:t>
            </a:r>
            <a:r>
              <a:rPr lang="en-US" dirty="0"/>
              <a:t>. Approximately </a:t>
            </a:r>
            <a:r>
              <a:rPr lang="en-US" b="1" dirty="0"/>
              <a:t>69.5% of all orders remain pending</a:t>
            </a:r>
            <a:r>
              <a:rPr lang="en-US" dirty="0"/>
              <a:t>, with pending orders representing </a:t>
            </a:r>
            <a:r>
              <a:rPr lang="en-US" b="1" dirty="0"/>
              <a:t>₹16.82 million, or 78.86% of total net sales value</a:t>
            </a:r>
            <a:r>
              <a:rPr lang="en-US" dirty="0"/>
              <a:t>. Only </a:t>
            </a:r>
            <a:r>
              <a:rPr lang="en-US" b="1" dirty="0"/>
              <a:t>30.5% of orders have been delivered</a:t>
            </a:r>
            <a:r>
              <a:rPr lang="en-US" dirty="0"/>
              <a:t>, accounting for approximately </a:t>
            </a:r>
            <a:r>
              <a:rPr lang="en-US" b="1" dirty="0"/>
              <a:t>₹4.51 million (21.14%)</a:t>
            </a:r>
            <a:r>
              <a:rPr lang="en-US" dirty="0"/>
              <a:t> of the total net sales value.</a:t>
            </a:r>
          </a:p>
          <a:p>
            <a:r>
              <a:rPr lang="en-US" dirty="0"/>
              <a:t>This substantial fulfilment backlog indicates that the company's </a:t>
            </a:r>
            <a:r>
              <a:rPr lang="en-US" b="1" dirty="0"/>
              <a:t>ability to fulfil customer demand is not keeping pace with the level of business generated</a:t>
            </a:r>
            <a:r>
              <a:rPr lang="en-US" dirty="0"/>
              <a:t>. While the available dataset confirms the scale of the problem, it does not provide sufficient information to establish its exact root cause. Inventory availability, warehouse capacity, order-processing time, logistics-partner performance, and geographical distribution should therefore be investigated further.</a:t>
            </a:r>
          </a:p>
          <a:p>
            <a:r>
              <a:rPr lang="en-US" b="1" dirty="0" err="1"/>
              <a:t>Overall,VyaaparX</a:t>
            </a:r>
            <a:r>
              <a:rPr lang="en-US" b="1" dirty="0"/>
              <a:t> E-Commerce firm’s primary challenge is not generating demand or sales, but efficiently converting that demand into completed deliveries.</a:t>
            </a:r>
            <a:r>
              <a:rPr lang="en-US" dirty="0"/>
              <a:t> Addressing the fulfilment bottleneck should therefore be a key operational priority as the company scales.</a:t>
            </a:r>
          </a:p>
          <a:p>
            <a:endParaRPr lang="en-US" dirty="0"/>
          </a:p>
        </p:txBody>
      </p:sp>
    </p:spTree>
    <p:extLst>
      <p:ext uri="{BB962C8B-B14F-4D97-AF65-F5344CB8AC3E}">
        <p14:creationId xmlns:p14="http://schemas.microsoft.com/office/powerpoint/2010/main" val="22971091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F4B54B"/>
      </a:accent1>
      <a:accent2>
        <a:srgbClr val="A2C84E"/>
      </a:accent2>
      <a:accent3>
        <a:srgbClr val="4BC298"/>
      </a:accent3>
      <a:accent4>
        <a:srgbClr val="4CB5D3"/>
      </a:accent4>
      <a:accent5>
        <a:srgbClr val="9167E3"/>
      </a:accent5>
      <a:accent6>
        <a:srgbClr val="E05073"/>
      </a:accent6>
      <a:hlink>
        <a:srgbClr val="E19520"/>
      </a:hlink>
      <a:folHlink>
        <a:srgbClr val="E8B15D"/>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DD1DAD52-B525-46B5-8E87-60EE23581B9C}"/>
    </a:ext>
  </a:extLst>
</a:theme>
</file>

<file path=docProps/app.xml><?xml version="1.0" encoding="utf-8"?>
<Properties xmlns="http://schemas.openxmlformats.org/officeDocument/2006/extended-properties" xmlns:vt="http://schemas.openxmlformats.org/officeDocument/2006/docPropsVTypes">
  <Template>Mesh</Template>
  <TotalTime>690</TotalTime>
  <Words>1173</Words>
  <Application>Microsoft Office PowerPoint</Application>
  <PresentationFormat>Widescreen</PresentationFormat>
  <Paragraphs>64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Bahnschrift SemiBold Condensed</vt:lpstr>
      <vt:lpstr>Calibri</vt:lpstr>
      <vt:lpstr>Century Schoolbook</vt:lpstr>
      <vt:lpstr>Mesh</vt:lpstr>
      <vt:lpstr>E-Commerce Sales and Customer Performance Analysis</vt:lpstr>
      <vt:lpstr>Disclaimer!</vt:lpstr>
      <vt:lpstr>Project Objective </vt:lpstr>
      <vt:lpstr>Dataset Overview</vt:lpstr>
      <vt:lpstr>Key Business questions</vt:lpstr>
      <vt:lpstr>Which product category generated the highest sales?  </vt:lpstr>
      <vt:lpstr>Which product was the most popular</vt:lpstr>
      <vt:lpstr>Which customer Generated the highest revenue</vt:lpstr>
      <vt:lpstr>Which city/State performed the best </vt:lpstr>
      <vt:lpstr>What was AVERAGE ORDER VALUE</vt:lpstr>
      <vt:lpstr>Which payment method was most preferred?  </vt:lpstr>
      <vt:lpstr>Which Product category had the highest SURPLUS?  </vt:lpstr>
      <vt:lpstr>What were the monthly Sales </vt:lpstr>
      <vt:lpstr>How many Orders were delivered and how many were pending ? </vt:lpstr>
      <vt:lpstr>Final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2026-08-14T11:49:47Z</dcterms:created>
  <dcterms:modified xsi:type="dcterms:W3CDTF">2026-08-16T11:53:40Z</dcterms:modified>
</cp:coreProperties>
</file>